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265" r:id="rId3"/>
    <p:sldId id="262" r:id="rId4"/>
    <p:sldId id="297" r:id="rId5"/>
    <p:sldId id="299" r:id="rId6"/>
    <p:sldId id="308" r:id="rId7"/>
    <p:sldId id="309" r:id="rId8"/>
    <p:sldId id="310" r:id="rId9"/>
    <p:sldId id="311" r:id="rId10"/>
    <p:sldId id="312" r:id="rId11"/>
    <p:sldId id="313" r:id="rId12"/>
    <p:sldId id="315" r:id="rId13"/>
    <p:sldId id="316" r:id="rId14"/>
    <p:sldId id="292" r:id="rId15"/>
    <p:sldId id="303" r:id="rId16"/>
    <p:sldId id="317" r:id="rId17"/>
    <p:sldId id="304" r:id="rId18"/>
    <p:sldId id="318" r:id="rId19"/>
    <p:sldId id="319" r:id="rId20"/>
    <p:sldId id="320" r:id="rId21"/>
    <p:sldId id="321" r:id="rId22"/>
    <p:sldId id="322" r:id="rId23"/>
    <p:sldId id="323" r:id="rId24"/>
    <p:sldId id="324" r:id="rId25"/>
    <p:sldId id="307"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4489" autoAdjust="0"/>
  </p:normalViewPr>
  <p:slideViewPr>
    <p:cSldViewPr>
      <p:cViewPr varScale="1">
        <p:scale>
          <a:sx n="62" d="100"/>
          <a:sy n="62" d="100"/>
        </p:scale>
        <p:origin x="162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5226"/>
    </p:cViewPr>
  </p:sorterViewPr>
  <p:notesViewPr>
    <p:cSldViewPr>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6C8835-A18B-4B84-B713-0438645A84A3}" type="datetimeFigureOut">
              <a:rPr lang="en-US" smtClean="0"/>
              <a:t>9/12/2024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16F2EA-8CF4-411A-85A6-35EEAD33BDCC}" type="slidenum">
              <a:rPr lang="en-US" smtClean="0"/>
              <a:t>‹#›</a:t>
            </a:fld>
            <a:endParaRPr lang="en-US"/>
          </a:p>
        </p:txBody>
      </p:sp>
    </p:spTree>
    <p:extLst>
      <p:ext uri="{BB962C8B-B14F-4D97-AF65-F5344CB8AC3E}">
        <p14:creationId xmlns:p14="http://schemas.microsoft.com/office/powerpoint/2010/main" val="15363087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EE136-0344-4C33-8E6A-AA9D1CC08466}" type="datetimeFigureOut">
              <a:rPr lang="en-US" smtClean="0"/>
              <a:t>9/12/2024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A69A3-3A7D-479F-8102-BFC3EAE6B056}" type="slidenum">
              <a:rPr lang="en-US" smtClean="0"/>
              <a:t>‹#›</a:t>
            </a:fld>
            <a:endParaRPr lang="en-US"/>
          </a:p>
        </p:txBody>
      </p:sp>
    </p:spTree>
    <p:extLst>
      <p:ext uri="{BB962C8B-B14F-4D97-AF65-F5344CB8AC3E}">
        <p14:creationId xmlns:p14="http://schemas.microsoft.com/office/powerpoint/2010/main" val="117462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baseline="0">
                <a:solidFill>
                  <a:srgbClr val="C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C9A62315-523A-4E76-A53F-63211F5AB666}" type="datetimeFigureOut">
              <a:rPr lang="en-US" smtClean="0"/>
              <a:pPr/>
              <a:t>9/12/2024</a:t>
            </a:fld>
            <a:endParaRPr lang="en-US"/>
          </a:p>
        </p:txBody>
      </p:sp>
      <p:sp>
        <p:nvSpPr>
          <p:cNvPr id="5" name="Footer Placeholder 4"/>
          <p:cNvSpPr>
            <a:spLocks noGrp="1"/>
          </p:cNvSpPr>
          <p:nvPr>
            <p:ph type="ftr" sz="quarter" idx="11"/>
          </p:nvPr>
        </p:nvSpPr>
        <p:spPr/>
        <p:txBody>
          <a:bodyPr/>
          <a:lstStyle/>
          <a:p>
            <a:r>
              <a:rPr lang="en-US" dirty="0" smtClean="0"/>
              <a:t>Software development process</a:t>
            </a:r>
            <a:endParaRPr lang="en-US" dirty="0"/>
          </a:p>
        </p:txBody>
      </p:sp>
      <p:sp>
        <p:nvSpPr>
          <p:cNvPr id="6" name="Slide Number Placeholder 5"/>
          <p:cNvSpPr>
            <a:spLocks noGrp="1"/>
          </p:cNvSpPr>
          <p:nvPr>
            <p:ph type="sldNum" sz="quarter" idx="12"/>
          </p:nvPr>
        </p:nvSpPr>
        <p:spPr/>
        <p:txBody>
          <a:bodyPr/>
          <a:lstStyle/>
          <a:p>
            <a:fld id="{8015A9A5-FDED-4E35-A21F-AB2CE43FC06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600" baseline="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solidFill>
                  <a:srgbClr val="0000FF"/>
                </a:solidFill>
              </a:defRPr>
            </a:lvl1pPr>
          </a:lstStyle>
          <a:p>
            <a:fld id="{C9A62315-523A-4E76-A53F-63211F5AB666}" type="datetimeFigureOut">
              <a:rPr lang="en-US" smtClean="0"/>
              <a:pPr/>
              <a:t>9/12/2024</a:t>
            </a:fld>
            <a:endParaRPr lang="en-US"/>
          </a:p>
        </p:txBody>
      </p:sp>
      <p:sp>
        <p:nvSpPr>
          <p:cNvPr id="5" name="Footer Placeholder 4"/>
          <p:cNvSpPr>
            <a:spLocks noGrp="1"/>
          </p:cNvSpPr>
          <p:nvPr>
            <p:ph type="ftr" sz="quarter" idx="11"/>
          </p:nvPr>
        </p:nvSpPr>
        <p:spPr/>
        <p:txBody>
          <a:bodyPr/>
          <a:lstStyle>
            <a:lvl1pPr>
              <a:defRPr>
                <a:solidFill>
                  <a:srgbClr val="0000FF"/>
                </a:solidFill>
              </a:defRPr>
            </a:lvl1pPr>
          </a:lstStyle>
          <a:p>
            <a:r>
              <a:rPr lang="en-US" dirty="0" smtClean="0"/>
              <a:t>Software development process</a:t>
            </a:r>
            <a:endParaRPr lang="en-US" dirty="0"/>
          </a:p>
        </p:txBody>
      </p:sp>
      <p:sp>
        <p:nvSpPr>
          <p:cNvPr id="6" name="Slide Number Placeholder 5"/>
          <p:cNvSpPr>
            <a:spLocks noGrp="1"/>
          </p:cNvSpPr>
          <p:nvPr>
            <p:ph type="sldNum" sz="quarter" idx="12"/>
          </p:nvPr>
        </p:nvSpPr>
        <p:spPr/>
        <p:txBody>
          <a:bodyPr/>
          <a:lstStyle>
            <a:lvl1pPr>
              <a:defRPr>
                <a:solidFill>
                  <a:srgbClr val="0000FF"/>
                </a:solidFill>
              </a:defRPr>
            </a:lvl1pPr>
          </a:lstStyle>
          <a:p>
            <a:fld id="{8015A9A5-FDED-4E35-A21F-AB2CE43FC06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533400" y="1371600"/>
            <a:ext cx="8153400" cy="4800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Date Placeholder 9"/>
          <p:cNvSpPr>
            <a:spLocks noGrp="1"/>
          </p:cNvSpPr>
          <p:nvPr>
            <p:ph type="dt" sz="half" idx="14"/>
          </p:nvPr>
        </p:nvSpPr>
        <p:spPr/>
        <p:txBody>
          <a:bodyPr/>
          <a:lstStyle/>
          <a:p>
            <a:fld id="{C9A62315-523A-4E76-A53F-63211F5AB666}" type="datetimeFigureOut">
              <a:rPr lang="en-US" smtClean="0"/>
              <a:pPr/>
              <a:t>9/12/2024</a:t>
            </a:fld>
            <a:endParaRPr lang="en-US" dirty="0"/>
          </a:p>
        </p:txBody>
      </p:sp>
      <p:sp>
        <p:nvSpPr>
          <p:cNvPr id="11" name="Slide Number Placeholder 10"/>
          <p:cNvSpPr>
            <a:spLocks noGrp="1"/>
          </p:cNvSpPr>
          <p:nvPr>
            <p:ph type="sldNum" sz="quarter" idx="15"/>
          </p:nvPr>
        </p:nvSpPr>
        <p:spPr/>
        <p:txBody>
          <a:bodyPr/>
          <a:lstStyle/>
          <a:p>
            <a:fld id="{8015A9A5-FDED-4E35-A21F-AB2CE43FC06E}" type="slidenum">
              <a:rPr lang="en-US" smtClean="0"/>
              <a:pPr/>
              <a:t>‹#›</a:t>
            </a:fld>
            <a:endParaRPr lang="en-US" dirty="0"/>
          </a:p>
        </p:txBody>
      </p:sp>
      <p:sp>
        <p:nvSpPr>
          <p:cNvPr id="12" name="Footer Placeholder 11"/>
          <p:cNvSpPr>
            <a:spLocks noGrp="1"/>
          </p:cNvSpPr>
          <p:nvPr>
            <p:ph type="ftr" sz="quarter" idx="16"/>
          </p:nvPr>
        </p:nvSpPr>
        <p:spPr/>
        <p:txBody>
          <a:bodyPr/>
          <a:lstStyle/>
          <a:p>
            <a:r>
              <a:rPr lang="en-US" dirty="0" smtClean="0"/>
              <a:t>Software development process</a:t>
            </a:r>
            <a:endParaRPr lang="en-US" dirty="0"/>
          </a:p>
        </p:txBody>
      </p:sp>
      <p:sp>
        <p:nvSpPr>
          <p:cNvPr id="13" name="Title 12"/>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A62315-523A-4E76-A53F-63211F5AB666}" type="datetimeFigureOut">
              <a:rPr lang="en-US" smtClean="0"/>
              <a:pPr/>
              <a:t>9/12/2024</a:t>
            </a:fld>
            <a:endParaRPr lang="en-US"/>
          </a:p>
        </p:txBody>
      </p:sp>
      <p:sp>
        <p:nvSpPr>
          <p:cNvPr id="3" name="Footer Placeholder 2"/>
          <p:cNvSpPr>
            <a:spLocks noGrp="1"/>
          </p:cNvSpPr>
          <p:nvPr>
            <p:ph type="ftr" sz="quarter" idx="11"/>
          </p:nvPr>
        </p:nvSpPr>
        <p:spPr/>
        <p:txBody>
          <a:bodyPr/>
          <a:lstStyle/>
          <a:p>
            <a:r>
              <a:rPr lang="en-US" dirty="0" smtClean="0"/>
              <a:t>Software development process</a:t>
            </a:r>
            <a:endParaRPr lang="en-US" dirty="0"/>
          </a:p>
        </p:txBody>
      </p:sp>
      <p:sp>
        <p:nvSpPr>
          <p:cNvPr id="4" name="Slide Number Placeholder 3"/>
          <p:cNvSpPr>
            <a:spLocks noGrp="1"/>
          </p:cNvSpPr>
          <p:nvPr>
            <p:ph type="sldNum" sz="quarter" idx="12"/>
          </p:nvPr>
        </p:nvSpPr>
        <p:spPr/>
        <p:txBody>
          <a:bodyPr/>
          <a:lstStyle/>
          <a:p>
            <a:fld id="{8015A9A5-FDED-4E35-A21F-AB2CE43FC06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7" name="Picture 3"/>
          <p:cNvPicPr>
            <a:picLocks noChangeAspect="1" noChangeArrowheads="1"/>
          </p:cNvPicPr>
          <p:nvPr userDrawn="1"/>
        </p:nvPicPr>
        <p:blipFill>
          <a:blip r:embed="rId6" cstate="print"/>
          <a:srcRect/>
          <a:stretch>
            <a:fillRect/>
          </a:stretch>
        </p:blipFill>
        <p:spPr bwMode="auto">
          <a:xfrm>
            <a:off x="0" y="457200"/>
            <a:ext cx="6648450" cy="952500"/>
          </a:xfrm>
          <a:prstGeom prst="rect">
            <a:avLst/>
          </a:prstGeom>
          <a:noFill/>
          <a:ln w="9525">
            <a:noFill/>
            <a:miter lim="800000"/>
            <a:headEnd/>
            <a:tailEnd/>
          </a:ln>
        </p:spPr>
      </p:pic>
      <p:sp>
        <p:nvSpPr>
          <p:cNvPr id="2" name="Title Placeholder 1"/>
          <p:cNvSpPr>
            <a:spLocks noGrp="1"/>
          </p:cNvSpPr>
          <p:nvPr>
            <p:ph type="title"/>
          </p:nvPr>
        </p:nvSpPr>
        <p:spPr>
          <a:xfrm>
            <a:off x="609600" y="274638"/>
            <a:ext cx="8077200" cy="792162"/>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smtClean="0"/>
              <a:t>Software development process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Example%20-%20T&#224;i%20li&#7879;u%20&#273;&#7863;c%20t&#7843;%20y&#234;u%20c&#7847;u%20-%2001.docx" TargetMode="External"/><Relationship Id="rId2" Type="http://schemas.openxmlformats.org/officeDocument/2006/relationships/hyperlink" Target="Template%20-%20T&#224;i%20li&#7879;u%20&#273;&#7863;c%20t&#7843;%20y&#234;u%20c&#7847;u-01.docx"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Template%20-%20Test%20Plan.docx" TargetMode="External"/><Relationship Id="rId4" Type="http://schemas.openxmlformats.org/officeDocument/2006/relationships/hyperlink" Target="Template%20-%20Project%20Management%20Plan.docx"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Example%20-%20T&#224;i%20li&#7879;u%20&#273;&#7863;c%20t&#7843;%20y&#234;u%20c&#7847;u%20-%2001.docx" TargetMode="External"/><Relationship Id="rId2" Type="http://schemas.openxmlformats.org/officeDocument/2006/relationships/hyperlink" Target="Template%20-%20T&#224;i%20li&#7879;u%20&#273;&#7863;c%20t&#7843;%20y&#234;u%20c&#7847;u-01.docx"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Template%20-%20Test%20Plan.docx" TargetMode="External"/><Relationship Id="rId4" Type="http://schemas.openxmlformats.org/officeDocument/2006/relationships/hyperlink" Target="Template%20-%20Project%20Management%20Plan.docx"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rojectresources.cdt.ca.gov/sdlc/" TargetMode="External"/><Relationship Id="rId2" Type="http://schemas.openxmlformats.org/officeDocument/2006/relationships/hyperlink" Target="https://doit.maryland.gov/SDLC/Pages/templates-phases.aspx"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130425"/>
            <a:ext cx="8001000" cy="1470025"/>
          </a:xfrm>
        </p:spPr>
        <p:txBody>
          <a:bodyPr>
            <a:normAutofit fontScale="90000"/>
          </a:bodyPr>
          <a:lstStyle/>
          <a:p>
            <a:r>
              <a:rPr lang="en-US" dirty="0" smtClean="0"/>
              <a:t>SOFTWARE DEVELOPMENT PROCESS</a:t>
            </a:r>
            <a:br>
              <a:rPr lang="en-US" dirty="0" smtClean="0"/>
            </a:br>
            <a:r>
              <a:rPr lang="en-US" dirty="0" err="1" smtClean="0"/>
              <a:t>Quy</a:t>
            </a:r>
            <a:r>
              <a:rPr lang="en-US" dirty="0" smtClean="0"/>
              <a:t> </a:t>
            </a:r>
            <a:r>
              <a:rPr lang="en-US" dirty="0" err="1" smtClean="0"/>
              <a:t>trình</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smtClean="0"/>
              <a:t> </a:t>
            </a:r>
            <a:r>
              <a:rPr lang="en-US" dirty="0" err="1" smtClean="0"/>
              <a:t>phần</a:t>
            </a:r>
            <a:r>
              <a:rPr lang="en-US" dirty="0" smtClean="0"/>
              <a:t> </a:t>
            </a:r>
            <a:r>
              <a:rPr lang="en-US" dirty="0" err="1" smtClean="0"/>
              <a:t>mềm</a:t>
            </a:r>
            <a:endParaRPr lang="en-US" dirty="0"/>
          </a:p>
        </p:txBody>
      </p:sp>
      <p:sp>
        <p:nvSpPr>
          <p:cNvPr id="3" name="Subtitle 2"/>
          <p:cNvSpPr>
            <a:spLocks noGrp="1"/>
          </p:cNvSpPr>
          <p:nvPr>
            <p:ph type="subTitle" idx="1"/>
          </p:nvPr>
        </p:nvSpPr>
        <p:spPr/>
        <p:txBody>
          <a:bodyPr/>
          <a:lstStyle/>
          <a:p>
            <a:r>
              <a:rPr lang="en-US" dirty="0" err="1" smtClean="0"/>
              <a:t>Nguyễn</a:t>
            </a:r>
            <a:r>
              <a:rPr lang="en-US" dirty="0" smtClean="0"/>
              <a:t> </a:t>
            </a:r>
            <a:r>
              <a:rPr lang="en-US" dirty="0" err="1" smtClean="0"/>
              <a:t>Trọng</a:t>
            </a:r>
            <a:r>
              <a:rPr lang="en-US" dirty="0" smtClean="0"/>
              <a:t> </a:t>
            </a:r>
            <a:r>
              <a:rPr lang="en-US" dirty="0" err="1" smtClean="0"/>
              <a:t>Phúc</a:t>
            </a:r>
            <a:endParaRPr lang="en-US" dirty="0" smtClean="0"/>
          </a:p>
          <a:p>
            <a:r>
              <a:rPr lang="en-US" dirty="0" smtClean="0"/>
              <a:t>August - 2024</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a:xfrm>
            <a:off x="457200" y="1371600"/>
            <a:ext cx="8305800" cy="4754563"/>
          </a:xfrm>
        </p:spPr>
        <p:txBody>
          <a:bodyPr>
            <a:normAutofit fontScale="85000" lnSpcReduction="20000"/>
          </a:bodyPr>
          <a:lstStyle/>
          <a:p>
            <a:pPr algn="just"/>
            <a:r>
              <a:rPr lang="en-US" dirty="0" err="1" smtClean="0"/>
              <a:t>Tổng</a:t>
            </a:r>
            <a:r>
              <a:rPr lang="en-US" dirty="0" smtClean="0"/>
              <a:t> </a:t>
            </a:r>
            <a:r>
              <a:rPr lang="en-US" dirty="0" err="1" smtClean="0"/>
              <a:t>quan</a:t>
            </a:r>
            <a:r>
              <a:rPr lang="en-US" dirty="0" smtClean="0"/>
              <a:t> </a:t>
            </a:r>
            <a:r>
              <a:rPr lang="en-US" dirty="0" err="1" smtClean="0"/>
              <a:t>về</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phần</a:t>
            </a:r>
            <a:r>
              <a:rPr lang="en-US" dirty="0" smtClean="0"/>
              <a:t> </a:t>
            </a:r>
            <a:r>
              <a:rPr lang="en-US" dirty="0" err="1" smtClean="0"/>
              <a:t>mềm</a:t>
            </a:r>
            <a:endParaRPr lang="en-US" dirty="0" smtClean="0"/>
          </a:p>
          <a:p>
            <a:pPr lvl="1" algn="just"/>
            <a:r>
              <a:rPr lang="en-US" dirty="0" err="1" smtClean="0"/>
              <a:t>Một</a:t>
            </a:r>
            <a:r>
              <a:rPr lang="en-US" dirty="0" smtClean="0"/>
              <a:t> </a:t>
            </a:r>
            <a:r>
              <a:rPr lang="en-US" dirty="0" err="1" smtClean="0"/>
              <a:t>chút</a:t>
            </a:r>
            <a:r>
              <a:rPr lang="en-US" dirty="0" smtClean="0"/>
              <a:t> </a:t>
            </a:r>
            <a:r>
              <a:rPr lang="en-US" dirty="0" err="1" smtClean="0"/>
              <a:t>phân</a:t>
            </a:r>
            <a:r>
              <a:rPr lang="en-US" dirty="0" smtClean="0"/>
              <a:t> </a:t>
            </a:r>
            <a:r>
              <a:rPr lang="en-US" dirty="0" err="1" smtClean="0"/>
              <a:t>biệt</a:t>
            </a:r>
            <a:endParaRPr lang="en-US" dirty="0" smtClean="0"/>
          </a:p>
          <a:p>
            <a:pPr lvl="2" algn="just"/>
            <a:r>
              <a:rPr lang="en-US" dirty="0" smtClean="0"/>
              <a:t>SDP vs SDLC</a:t>
            </a:r>
          </a:p>
          <a:p>
            <a:pPr lvl="2" algn="just"/>
            <a:r>
              <a:rPr lang="en-US" dirty="0" smtClean="0"/>
              <a:t>SDLC vs PDLC</a:t>
            </a:r>
          </a:p>
          <a:p>
            <a:pPr lvl="1" algn="just"/>
            <a:r>
              <a:rPr lang="en-US" dirty="0" err="1" smtClean="0"/>
              <a:t>Lịch</a:t>
            </a:r>
            <a:r>
              <a:rPr lang="en-US" dirty="0" smtClean="0"/>
              <a:t> </a:t>
            </a:r>
            <a:r>
              <a:rPr lang="en-US" dirty="0" err="1" smtClean="0"/>
              <a:t>sử</a:t>
            </a:r>
            <a:r>
              <a:rPr lang="en-US" dirty="0" smtClean="0"/>
              <a:t> </a:t>
            </a:r>
            <a:r>
              <a:rPr lang="en-US" dirty="0" err="1" smtClean="0"/>
              <a:t>và</a:t>
            </a:r>
            <a:r>
              <a:rPr lang="en-US" dirty="0" smtClean="0"/>
              <a:t> </a:t>
            </a:r>
            <a:r>
              <a:rPr lang="en-US" dirty="0" err="1" smtClean="0"/>
              <a:t>các</a:t>
            </a:r>
            <a:r>
              <a:rPr lang="en-US" dirty="0" smtClean="0"/>
              <a:t> </a:t>
            </a:r>
            <a:r>
              <a:rPr lang="en-US" dirty="0" err="1" smtClean="0"/>
              <a:t>mô</a:t>
            </a:r>
            <a:r>
              <a:rPr lang="en-US" dirty="0" smtClean="0"/>
              <a:t> </a:t>
            </a:r>
            <a:r>
              <a:rPr lang="en-US" dirty="0" err="1" smtClean="0"/>
              <a:t>hình</a:t>
            </a:r>
            <a:r>
              <a:rPr lang="en-US" dirty="0" smtClean="0"/>
              <a:t> </a:t>
            </a:r>
            <a:r>
              <a:rPr lang="en-US" dirty="0" err="1" smtClean="0"/>
              <a:t>phát</a:t>
            </a:r>
            <a:r>
              <a:rPr lang="en-US" dirty="0" smtClean="0"/>
              <a:t> </a:t>
            </a:r>
            <a:r>
              <a:rPr lang="en-US" dirty="0" err="1" smtClean="0"/>
              <a:t>triển</a:t>
            </a:r>
            <a:endParaRPr lang="en-US" dirty="0" smtClean="0"/>
          </a:p>
          <a:p>
            <a:pPr lvl="1" algn="just"/>
            <a:r>
              <a:rPr lang="en-US" dirty="0" err="1" smtClean="0"/>
              <a:t>Ưu</a:t>
            </a:r>
            <a:r>
              <a:rPr lang="en-US" dirty="0" smtClean="0"/>
              <a:t> </a:t>
            </a:r>
            <a:r>
              <a:rPr lang="en-US" dirty="0" err="1" smtClean="0"/>
              <a:t>và</a:t>
            </a:r>
            <a:r>
              <a:rPr lang="en-US" dirty="0" smtClean="0"/>
              <a:t> </a:t>
            </a:r>
            <a:r>
              <a:rPr lang="en-US" dirty="0" err="1" smtClean="0"/>
              <a:t>nhược</a:t>
            </a:r>
            <a:r>
              <a:rPr lang="en-US" dirty="0" smtClean="0"/>
              <a:t> </a:t>
            </a:r>
            <a:r>
              <a:rPr lang="en-US" dirty="0" err="1" smtClean="0"/>
              <a:t>điểm</a:t>
            </a:r>
            <a:r>
              <a:rPr lang="en-US" dirty="0" smtClean="0"/>
              <a:t> </a:t>
            </a:r>
            <a:r>
              <a:rPr lang="en-US" dirty="0" err="1" smtClean="0"/>
              <a:t>khi</a:t>
            </a:r>
            <a:r>
              <a:rPr lang="en-US" dirty="0" smtClean="0"/>
              <a:t> </a:t>
            </a:r>
            <a:r>
              <a:rPr lang="en-US" dirty="0" err="1" smtClean="0"/>
              <a:t>áp</a:t>
            </a:r>
            <a:r>
              <a:rPr lang="en-US" dirty="0" smtClean="0"/>
              <a:t> </a:t>
            </a:r>
            <a:r>
              <a:rPr lang="en-US" dirty="0" err="1" smtClean="0"/>
              <a:t>dụng</a:t>
            </a:r>
            <a:r>
              <a:rPr lang="en-US" dirty="0" smtClean="0"/>
              <a:t> SDLC</a:t>
            </a:r>
          </a:p>
          <a:p>
            <a:pPr algn="just"/>
            <a:r>
              <a:rPr lang="en-US" dirty="0" err="1" smtClean="0"/>
              <a:t>Gợi</a:t>
            </a:r>
            <a:r>
              <a:rPr lang="en-US" dirty="0" smtClean="0"/>
              <a:t> ý </a:t>
            </a:r>
            <a:r>
              <a:rPr lang="en-US" dirty="0" err="1" smtClean="0"/>
              <a:t>các</a:t>
            </a:r>
            <a:r>
              <a:rPr lang="en-US" dirty="0" smtClean="0"/>
              <a:t> </a:t>
            </a:r>
            <a:r>
              <a:rPr lang="en-US" dirty="0" err="1" smtClean="0"/>
              <a:t>bước</a:t>
            </a:r>
            <a:r>
              <a:rPr lang="en-US" dirty="0" smtClean="0"/>
              <a:t> </a:t>
            </a:r>
            <a:r>
              <a:rPr lang="en-US" dirty="0" err="1" smtClean="0"/>
              <a:t>cần</a:t>
            </a:r>
            <a:r>
              <a:rPr lang="en-US" dirty="0" smtClean="0"/>
              <a:t> </a:t>
            </a:r>
            <a:r>
              <a:rPr lang="en-US" dirty="0" err="1" smtClean="0"/>
              <a:t>thực</a:t>
            </a:r>
            <a:r>
              <a:rPr lang="en-US" dirty="0" smtClean="0"/>
              <a:t> </a:t>
            </a:r>
            <a:r>
              <a:rPr lang="en-US" dirty="0" err="1" smtClean="0"/>
              <a:t>hiện</a:t>
            </a:r>
            <a:endParaRPr lang="en-US" dirty="0" smtClean="0"/>
          </a:p>
          <a:p>
            <a:pPr lvl="1" algn="just"/>
            <a:r>
              <a:rPr lang="en-US" dirty="0" err="1" smtClean="0"/>
              <a:t>Phân</a:t>
            </a:r>
            <a:r>
              <a:rPr lang="en-US" dirty="0" smtClean="0"/>
              <a:t> </a:t>
            </a:r>
            <a:r>
              <a:rPr lang="en-US" dirty="0" err="1" smtClean="0"/>
              <a:t>tích</a:t>
            </a:r>
            <a:r>
              <a:rPr lang="en-US" dirty="0" smtClean="0"/>
              <a:t> </a:t>
            </a:r>
            <a:r>
              <a:rPr lang="en-US" dirty="0" err="1" smtClean="0"/>
              <a:t>yêu</a:t>
            </a:r>
            <a:r>
              <a:rPr lang="en-US" dirty="0" smtClean="0"/>
              <a:t> </a:t>
            </a:r>
            <a:r>
              <a:rPr lang="en-US" dirty="0" err="1" smtClean="0"/>
              <a:t>cầu</a:t>
            </a:r>
            <a:r>
              <a:rPr lang="en-US" dirty="0" smtClean="0"/>
              <a:t> </a:t>
            </a:r>
            <a:r>
              <a:rPr lang="en-US" dirty="0" err="1" smtClean="0"/>
              <a:t>với</a:t>
            </a:r>
            <a:r>
              <a:rPr lang="en-US" dirty="0" smtClean="0"/>
              <a:t> SRS</a:t>
            </a:r>
          </a:p>
          <a:p>
            <a:pPr lvl="1" algn="just"/>
            <a:r>
              <a:rPr lang="en-US" dirty="0" err="1" smtClean="0"/>
              <a:t>Lên</a:t>
            </a:r>
            <a:r>
              <a:rPr lang="en-US" dirty="0" smtClean="0"/>
              <a:t> </a:t>
            </a:r>
            <a:r>
              <a:rPr lang="en-US" dirty="0" err="1" smtClean="0"/>
              <a:t>kế</a:t>
            </a:r>
            <a:r>
              <a:rPr lang="en-US" dirty="0" smtClean="0"/>
              <a:t> </a:t>
            </a:r>
            <a:r>
              <a:rPr lang="en-US" dirty="0" err="1" smtClean="0"/>
              <a:t>hoạch</a:t>
            </a:r>
            <a:r>
              <a:rPr lang="en-US" dirty="0" smtClean="0"/>
              <a:t> </a:t>
            </a:r>
            <a:r>
              <a:rPr lang="en-US" dirty="0" err="1" smtClean="0"/>
              <a:t>dự</a:t>
            </a:r>
            <a:r>
              <a:rPr lang="en-US" dirty="0" smtClean="0"/>
              <a:t> </a:t>
            </a:r>
            <a:r>
              <a:rPr lang="en-US" dirty="0" err="1" smtClean="0"/>
              <a:t>án</a:t>
            </a:r>
            <a:endParaRPr lang="en-US" dirty="0" smtClean="0"/>
          </a:p>
          <a:p>
            <a:pPr lvl="1" algn="just"/>
            <a:r>
              <a:rPr lang="en-US" dirty="0" err="1" smtClean="0"/>
              <a:t>Thiết</a:t>
            </a:r>
            <a:r>
              <a:rPr lang="en-US" dirty="0" smtClean="0"/>
              <a:t> </a:t>
            </a:r>
            <a:r>
              <a:rPr lang="en-US" dirty="0" err="1" smtClean="0"/>
              <a:t>kế</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và</a:t>
            </a:r>
            <a:r>
              <a:rPr lang="en-US" dirty="0" smtClean="0"/>
              <a:t> </a:t>
            </a:r>
            <a:r>
              <a:rPr lang="en-US" dirty="0" err="1" smtClean="0"/>
              <a:t>kiểm</a:t>
            </a:r>
            <a:r>
              <a:rPr lang="en-US" dirty="0" smtClean="0"/>
              <a:t> </a:t>
            </a:r>
            <a:r>
              <a:rPr lang="en-US" dirty="0" err="1" smtClean="0"/>
              <a:t>thử</a:t>
            </a:r>
            <a:r>
              <a:rPr lang="en-US" dirty="0" smtClean="0"/>
              <a:t>]</a:t>
            </a:r>
          </a:p>
          <a:p>
            <a:pPr lvl="1" algn="just"/>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smtClean="0"/>
          </a:p>
          <a:p>
            <a:pPr lvl="1" algn="just"/>
            <a:r>
              <a:rPr lang="en-US" dirty="0" err="1" smtClean="0"/>
              <a:t>Quản</a:t>
            </a:r>
            <a:r>
              <a:rPr lang="en-US" dirty="0" smtClean="0"/>
              <a:t> </a:t>
            </a:r>
            <a:r>
              <a:rPr lang="en-US" dirty="0" err="1" smtClean="0"/>
              <a:t>lý</a:t>
            </a:r>
            <a:r>
              <a:rPr lang="en-US" dirty="0" smtClean="0"/>
              <a:t> </a:t>
            </a:r>
            <a:r>
              <a:rPr lang="en-US" dirty="0" err="1" smtClean="0"/>
              <a:t>dự</a:t>
            </a:r>
            <a:r>
              <a:rPr lang="en-US" dirty="0" smtClean="0"/>
              <a:t> </a:t>
            </a:r>
            <a:r>
              <a:rPr lang="en-US" dirty="0" err="1" smtClean="0"/>
              <a:t>án</a:t>
            </a:r>
            <a:endParaRPr lang="en-US" dirty="0" smtClean="0"/>
          </a:p>
          <a:p>
            <a:pPr lvl="1" algn="just"/>
            <a:r>
              <a:rPr lang="en-US" dirty="0" err="1" smtClean="0"/>
              <a:t>Báo</a:t>
            </a:r>
            <a:r>
              <a:rPr lang="en-US" dirty="0" smtClean="0"/>
              <a:t> </a:t>
            </a:r>
            <a:r>
              <a:rPr lang="en-US" dirty="0" err="1" smtClean="0"/>
              <a:t>cáo</a:t>
            </a:r>
            <a:r>
              <a:rPr lang="en-US" dirty="0" smtClean="0"/>
              <a:t> </a:t>
            </a:r>
            <a:r>
              <a:rPr lang="en-US" dirty="0" err="1" smtClean="0"/>
              <a:t>tổng</a:t>
            </a:r>
            <a:r>
              <a:rPr lang="en-US" dirty="0" smtClean="0"/>
              <a:t> </a:t>
            </a:r>
            <a:r>
              <a:rPr lang="en-US" dirty="0" err="1" smtClean="0"/>
              <a:t>kết</a:t>
            </a:r>
            <a:endParaRPr lang="en-US" dirty="0" smtClean="0"/>
          </a:p>
          <a:p>
            <a:pPr algn="just"/>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ahoma (Headings)"/>
              </a:rPr>
              <a:t>KHÁI NIỆM CHUNG</a:t>
            </a:r>
            <a:endParaRPr lang="en-US" dirty="0">
              <a:latin typeface="Tahoma (Headings)"/>
            </a:endParaRPr>
          </a:p>
        </p:txBody>
      </p:sp>
      <p:sp>
        <p:nvSpPr>
          <p:cNvPr id="3" name="Subtitle 2"/>
          <p:cNvSpPr>
            <a:spLocks noGrp="1"/>
          </p:cNvSpPr>
          <p:nvPr>
            <p:ph type="subTitle" idx="1"/>
          </p:nvPr>
        </p:nvSpPr>
        <p:spPr>
          <a:xfrm>
            <a:off x="1219200" y="3886200"/>
            <a:ext cx="6858000" cy="1752600"/>
          </a:xfrm>
        </p:spPr>
        <p:txBody>
          <a:bodyPr/>
          <a:lstStyle/>
          <a:p>
            <a:r>
              <a:rPr lang="en-US" dirty="0" err="1" smtClean="0"/>
              <a:t>Các</a:t>
            </a:r>
            <a:r>
              <a:rPr lang="en-US" dirty="0" smtClean="0"/>
              <a:t> </a:t>
            </a:r>
            <a:r>
              <a:rPr lang="en-US" dirty="0" err="1" smtClean="0"/>
              <a:t>tiếp</a:t>
            </a:r>
            <a:r>
              <a:rPr lang="en-US" dirty="0" smtClean="0"/>
              <a:t> </a:t>
            </a:r>
            <a:r>
              <a:rPr lang="en-US" dirty="0" err="1" smtClean="0"/>
              <a:t>cận</a:t>
            </a:r>
            <a:r>
              <a:rPr lang="en-US" dirty="0" smtClean="0"/>
              <a:t> </a:t>
            </a:r>
            <a:r>
              <a:rPr lang="en-US" dirty="0" err="1" smtClean="0"/>
              <a:t>trong</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phần</a:t>
            </a:r>
            <a:r>
              <a:rPr lang="en-US" dirty="0" smtClean="0"/>
              <a:t> </a:t>
            </a:r>
            <a:r>
              <a:rPr lang="en-US" dirty="0" err="1" smtClean="0"/>
              <a:t>mềm</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Một</a:t>
            </a:r>
            <a:r>
              <a:rPr lang="en-US" dirty="0" smtClean="0"/>
              <a:t> </a:t>
            </a:r>
            <a:r>
              <a:rPr lang="en-US" dirty="0" err="1" smtClean="0"/>
              <a:t>chút</a:t>
            </a:r>
            <a:r>
              <a:rPr lang="en-US" dirty="0" smtClean="0"/>
              <a:t> </a:t>
            </a:r>
            <a:r>
              <a:rPr lang="en-US" dirty="0" err="1" smtClean="0"/>
              <a:t>phân</a:t>
            </a:r>
            <a:r>
              <a:rPr lang="en-US" dirty="0" smtClean="0"/>
              <a:t> </a:t>
            </a:r>
            <a:r>
              <a:rPr lang="en-US" dirty="0" err="1" smtClean="0"/>
              <a:t>biệt</a:t>
            </a:r>
            <a:endParaRPr lang="en-US" dirty="0"/>
          </a:p>
        </p:txBody>
      </p:sp>
      <p:sp>
        <p:nvSpPr>
          <p:cNvPr id="3" name="Content Placeholder 2"/>
          <p:cNvSpPr>
            <a:spLocks noGrp="1"/>
          </p:cNvSpPr>
          <p:nvPr>
            <p:ph idx="1"/>
          </p:nvPr>
        </p:nvSpPr>
        <p:spPr>
          <a:xfrm>
            <a:off x="457200" y="1371600"/>
            <a:ext cx="8305800" cy="4754563"/>
          </a:xfrm>
        </p:spPr>
        <p:txBody>
          <a:bodyPr>
            <a:normAutofit lnSpcReduction="10000"/>
          </a:bodyPr>
          <a:lstStyle/>
          <a:p>
            <a:pPr algn="just"/>
            <a:r>
              <a:rPr lang="en-US" dirty="0" smtClean="0"/>
              <a:t>Software development process (SDP) vs Software development life cycle (SDLC)</a:t>
            </a:r>
          </a:p>
          <a:p>
            <a:pPr lvl="1" algn="just"/>
            <a:r>
              <a:rPr lang="en-US" dirty="0" smtClean="0"/>
              <a:t>SDP: </a:t>
            </a:r>
            <a:r>
              <a:rPr lang="en-US" dirty="0" err="1" smtClean="0"/>
              <a:t>một</a:t>
            </a:r>
            <a:r>
              <a:rPr lang="en-US" dirty="0" smtClean="0"/>
              <a:t> </a:t>
            </a:r>
            <a:r>
              <a:rPr lang="en-US" dirty="0" err="1" smtClean="0"/>
              <a:t>cách</a:t>
            </a:r>
            <a:r>
              <a:rPr lang="en-US" dirty="0" smtClean="0"/>
              <a:t> </a:t>
            </a:r>
            <a:r>
              <a:rPr lang="en-US" dirty="0" err="1" smtClean="0"/>
              <a:t>đơn</a:t>
            </a:r>
            <a:r>
              <a:rPr lang="en-US" dirty="0" smtClean="0"/>
              <a:t> </a:t>
            </a:r>
            <a:r>
              <a:rPr lang="en-US" dirty="0" err="1" smtClean="0"/>
              <a:t>giản</a:t>
            </a:r>
            <a:r>
              <a:rPr lang="en-US" dirty="0" smtClean="0"/>
              <a:t>, </a:t>
            </a:r>
            <a:r>
              <a:rPr lang="en-US" dirty="0" err="1" smtClean="0"/>
              <a:t>đó</a:t>
            </a:r>
            <a:r>
              <a:rPr lang="en-US" dirty="0" smtClean="0"/>
              <a:t> </a:t>
            </a:r>
            <a:r>
              <a:rPr lang="en-US" dirty="0" err="1" smtClean="0"/>
              <a:t>là</a:t>
            </a:r>
            <a:r>
              <a:rPr lang="en-US" dirty="0" smtClean="0"/>
              <a:t> </a:t>
            </a:r>
            <a:r>
              <a:rPr lang="en-US" dirty="0" err="1" smtClean="0"/>
              <a:t>một</a:t>
            </a:r>
            <a:r>
              <a:rPr lang="en-US" dirty="0" smtClean="0"/>
              <a:t> </a:t>
            </a:r>
            <a:r>
              <a:rPr lang="en-US" dirty="0" err="1" smtClean="0"/>
              <a:t>quy</a:t>
            </a:r>
            <a:r>
              <a:rPr lang="en-US" dirty="0" smtClean="0"/>
              <a:t> </a:t>
            </a:r>
            <a:r>
              <a:rPr lang="en-US" dirty="0" err="1" smtClean="0"/>
              <a:t>trình</a:t>
            </a:r>
            <a:r>
              <a:rPr lang="en-US" dirty="0" smtClean="0"/>
              <a:t> </a:t>
            </a:r>
            <a:r>
              <a:rPr lang="en-US" dirty="0" err="1" smtClean="0"/>
              <a:t>mà</a:t>
            </a:r>
            <a:r>
              <a:rPr lang="en-US" dirty="0" smtClean="0"/>
              <a:t> </a:t>
            </a:r>
            <a:r>
              <a:rPr lang="en-US" dirty="0" err="1" smtClean="0"/>
              <a:t>các</a:t>
            </a:r>
            <a:r>
              <a:rPr lang="en-US" dirty="0" smtClean="0"/>
              <a:t> </a:t>
            </a:r>
            <a:r>
              <a:rPr lang="en-US" dirty="0" err="1" smtClean="0"/>
              <a:t>nhà</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từ</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thiết</a:t>
            </a:r>
            <a:r>
              <a:rPr lang="en-US" dirty="0" smtClean="0"/>
              <a:t> </a:t>
            </a:r>
            <a:r>
              <a:rPr lang="en-US" dirty="0" err="1" smtClean="0"/>
              <a:t>kế</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kiểm</a:t>
            </a:r>
            <a:r>
              <a:rPr lang="en-US" dirty="0" smtClean="0"/>
              <a:t> </a:t>
            </a:r>
            <a:r>
              <a:rPr lang="en-US" dirty="0" err="1" smtClean="0"/>
              <a:t>thử</a:t>
            </a:r>
            <a:r>
              <a:rPr lang="en-US" dirty="0" smtClean="0"/>
              <a:t> </a:t>
            </a:r>
            <a:r>
              <a:rPr lang="en-US" dirty="0" err="1" smtClean="0"/>
              <a:t>và</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một</a:t>
            </a:r>
            <a:r>
              <a:rPr lang="en-US" dirty="0" smtClean="0"/>
              <a:t> </a:t>
            </a:r>
            <a:r>
              <a:rPr lang="en-US" dirty="0" err="1" smtClean="0"/>
              <a:t>sản</a:t>
            </a:r>
            <a:r>
              <a:rPr lang="en-US" dirty="0" smtClean="0"/>
              <a:t> </a:t>
            </a:r>
            <a:r>
              <a:rPr lang="en-US" dirty="0" err="1" smtClean="0"/>
              <a:t>phẩm</a:t>
            </a:r>
            <a:r>
              <a:rPr lang="en-US" dirty="0" smtClean="0"/>
              <a:t> </a:t>
            </a:r>
            <a:r>
              <a:rPr lang="en-US" dirty="0" err="1" smtClean="0"/>
              <a:t>phần</a:t>
            </a:r>
            <a:r>
              <a:rPr lang="en-US" dirty="0" smtClean="0"/>
              <a:t> </a:t>
            </a:r>
            <a:r>
              <a:rPr lang="en-US" dirty="0" err="1" smtClean="0"/>
              <a:t>mềm</a:t>
            </a:r>
            <a:r>
              <a:rPr lang="en-US" dirty="0" smtClean="0"/>
              <a:t>.</a:t>
            </a:r>
          </a:p>
          <a:p>
            <a:pPr lvl="1" algn="just"/>
            <a:r>
              <a:rPr lang="en-US" dirty="0" err="1" smtClean="0"/>
              <a:t>Chuỗi</a:t>
            </a:r>
            <a:r>
              <a:rPr lang="en-US" dirty="0" smtClean="0"/>
              <a:t> </a:t>
            </a:r>
            <a:r>
              <a:rPr lang="en-US" dirty="0" err="1" smtClean="0"/>
              <a:t>các</a:t>
            </a:r>
            <a:r>
              <a:rPr lang="en-US" dirty="0" smtClean="0"/>
              <a:t> </a:t>
            </a:r>
            <a:r>
              <a:rPr lang="en-US" dirty="0" err="1" smtClean="0"/>
              <a:t>bước</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đó</a:t>
            </a:r>
            <a:r>
              <a:rPr lang="en-US" dirty="0" smtClean="0"/>
              <a:t> </a:t>
            </a:r>
            <a:r>
              <a:rPr lang="en-US" dirty="0" err="1" smtClean="0"/>
              <a:t>được</a:t>
            </a:r>
            <a:r>
              <a:rPr lang="en-US" dirty="0" smtClean="0"/>
              <a:t> </a:t>
            </a:r>
            <a:r>
              <a:rPr lang="en-US" dirty="0" err="1" smtClean="0"/>
              <a:t>tổng</a:t>
            </a:r>
            <a:r>
              <a:rPr lang="en-US" dirty="0" smtClean="0"/>
              <a:t> </a:t>
            </a:r>
            <a:r>
              <a:rPr lang="en-US" dirty="0" err="1" smtClean="0"/>
              <a:t>quát</a:t>
            </a:r>
            <a:r>
              <a:rPr lang="en-US" dirty="0" smtClean="0"/>
              <a:t> </a:t>
            </a:r>
            <a:r>
              <a:rPr lang="en-US" dirty="0" err="1" smtClean="0"/>
              <a:t>hóa</a:t>
            </a:r>
            <a:r>
              <a:rPr lang="en-US" dirty="0" smtClean="0"/>
              <a:t> </a:t>
            </a:r>
            <a:r>
              <a:rPr lang="en-US" dirty="0" err="1" smtClean="0"/>
              <a:t>thành</a:t>
            </a:r>
            <a:r>
              <a:rPr lang="en-US" dirty="0" smtClean="0"/>
              <a:t> SDLC – </a:t>
            </a:r>
            <a:r>
              <a:rPr lang="en-US" dirty="0" err="1" smtClean="0"/>
              <a:t>vòng</a:t>
            </a:r>
            <a:r>
              <a:rPr lang="en-US" dirty="0" smtClean="0"/>
              <a:t> </a:t>
            </a:r>
            <a:r>
              <a:rPr lang="en-US" dirty="0" err="1" smtClean="0"/>
              <a:t>đời</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một</a:t>
            </a:r>
            <a:r>
              <a:rPr lang="en-US" dirty="0" smtClean="0"/>
              <a:t> </a:t>
            </a:r>
            <a:r>
              <a:rPr lang="en-US" dirty="0" err="1" smtClean="0"/>
              <a:t>sản</a:t>
            </a:r>
            <a:r>
              <a:rPr lang="en-US" dirty="0" smtClean="0"/>
              <a:t> </a:t>
            </a:r>
            <a:r>
              <a:rPr lang="en-US" dirty="0" err="1" smtClean="0"/>
              <a:t>phẩm</a:t>
            </a:r>
            <a:r>
              <a:rPr lang="en-US" dirty="0" smtClean="0"/>
              <a:t> </a:t>
            </a:r>
            <a:r>
              <a:rPr lang="en-US" dirty="0" err="1" smtClean="0"/>
              <a:t>phần</a:t>
            </a:r>
            <a:r>
              <a:rPr lang="en-US" dirty="0" smtClean="0"/>
              <a:t> </a:t>
            </a:r>
            <a:r>
              <a:rPr lang="en-US" dirty="0" err="1" smtClean="0"/>
              <a:t>mềm</a:t>
            </a:r>
            <a:r>
              <a:rPr lang="en-US" dirty="0" smtClean="0"/>
              <a:t> hay </a:t>
            </a:r>
            <a:r>
              <a:rPr lang="en-US" dirty="0" err="1" smtClean="0"/>
              <a:t>một</a:t>
            </a:r>
            <a:r>
              <a:rPr lang="en-US" dirty="0" smtClean="0"/>
              <a:t> </a:t>
            </a:r>
            <a:r>
              <a:rPr lang="en-US" dirty="0" err="1" smtClean="0"/>
              <a:t>cách</a:t>
            </a:r>
            <a:r>
              <a:rPr lang="en-US" dirty="0" smtClean="0"/>
              <a:t> </a:t>
            </a:r>
            <a:r>
              <a:rPr lang="en-US" dirty="0" err="1" smtClean="0"/>
              <a:t>nói</a:t>
            </a:r>
            <a:r>
              <a:rPr lang="en-US" dirty="0" smtClean="0"/>
              <a:t> </a:t>
            </a:r>
            <a:r>
              <a:rPr lang="en-US" dirty="0" err="1" smtClean="0"/>
              <a:t>khác</a:t>
            </a:r>
            <a:r>
              <a:rPr lang="en-US" dirty="0"/>
              <a:t> </a:t>
            </a:r>
            <a:r>
              <a:rPr lang="en-US" dirty="0" smtClean="0"/>
              <a:t>SDLC </a:t>
            </a:r>
            <a:r>
              <a:rPr lang="en-US" dirty="0" err="1" smtClean="0"/>
              <a:t>là</a:t>
            </a:r>
            <a:r>
              <a:rPr lang="en-US" dirty="0" smtClean="0"/>
              <a:t> </a:t>
            </a:r>
            <a:r>
              <a:rPr lang="en-US" dirty="0" err="1" smtClean="0"/>
              <a:t>một</a:t>
            </a:r>
            <a:r>
              <a:rPr lang="en-US" dirty="0" smtClean="0"/>
              <a:t> </a:t>
            </a:r>
            <a:r>
              <a:rPr lang="en-US" dirty="0" err="1" smtClean="0"/>
              <a:t>bộ</a:t>
            </a:r>
            <a:r>
              <a:rPr lang="en-US" dirty="0" smtClean="0"/>
              <a:t> </a:t>
            </a:r>
            <a:r>
              <a:rPr lang="en-US" dirty="0" err="1" smtClean="0"/>
              <a:t>khung</a:t>
            </a:r>
            <a:r>
              <a:rPr lang="en-US" dirty="0" smtClean="0"/>
              <a:t> </a:t>
            </a:r>
            <a:r>
              <a:rPr lang="en-US" dirty="0" err="1" smtClean="0"/>
              <a:t>khái</a:t>
            </a:r>
            <a:r>
              <a:rPr lang="en-US" dirty="0" smtClean="0"/>
              <a:t> </a:t>
            </a:r>
            <a:r>
              <a:rPr lang="en-US" dirty="0" err="1" smtClean="0"/>
              <a:t>quát</a:t>
            </a:r>
            <a:r>
              <a:rPr lang="en-US" dirty="0" smtClean="0"/>
              <a:t> </a:t>
            </a:r>
            <a:r>
              <a:rPr lang="en-US" dirty="0" err="1" smtClean="0"/>
              <a:t>hóa</a:t>
            </a:r>
            <a:r>
              <a:rPr lang="en-US" dirty="0" smtClean="0"/>
              <a:t> </a:t>
            </a:r>
            <a:r>
              <a:rPr lang="en-US" dirty="0" err="1" smtClean="0"/>
              <a:t>các</a:t>
            </a:r>
            <a:r>
              <a:rPr lang="en-US" dirty="0" smtClean="0"/>
              <a:t> </a:t>
            </a:r>
            <a:r>
              <a:rPr lang="en-US" dirty="0" err="1" smtClean="0"/>
              <a:t>bước</a:t>
            </a:r>
            <a:r>
              <a:rPr lang="en-US" dirty="0" smtClean="0"/>
              <a:t> </a:t>
            </a:r>
            <a:r>
              <a:rPr lang="en-US" dirty="0" err="1" smtClean="0"/>
              <a:t>trong</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một</a:t>
            </a:r>
            <a:r>
              <a:rPr lang="en-US" dirty="0" smtClean="0"/>
              <a:t> </a:t>
            </a:r>
            <a:r>
              <a:rPr lang="en-US" dirty="0" err="1" smtClean="0"/>
              <a:t>dự</a:t>
            </a:r>
            <a:r>
              <a:rPr lang="en-US" dirty="0" smtClean="0"/>
              <a:t> </a:t>
            </a:r>
            <a:r>
              <a:rPr lang="en-US" dirty="0" err="1" smtClean="0"/>
              <a:t>án</a:t>
            </a:r>
            <a:r>
              <a:rPr lang="en-US" dirty="0" smtClean="0"/>
              <a:t> </a:t>
            </a:r>
            <a:r>
              <a:rPr lang="en-US" dirty="0" err="1" smtClean="0"/>
              <a:t>phần</a:t>
            </a:r>
            <a:r>
              <a:rPr lang="en-US" dirty="0" smtClean="0"/>
              <a:t> </a:t>
            </a:r>
            <a:r>
              <a:rPr lang="en-US" dirty="0" err="1" smtClean="0"/>
              <a:t>mềm</a:t>
            </a:r>
            <a:r>
              <a:rPr lang="en-US" dirty="0" smtClean="0"/>
              <a:t>.</a:t>
            </a: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4</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spTree>
    <p:extLst>
      <p:ext uri="{BB962C8B-B14F-4D97-AF65-F5344CB8AC3E}">
        <p14:creationId xmlns:p14="http://schemas.microsoft.com/office/powerpoint/2010/main" val="25507234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SDLC</a:t>
            </a:r>
            <a:endParaRPr lang="en-US" dirty="0"/>
          </a:p>
        </p:txBody>
      </p:sp>
      <p:sp>
        <p:nvSpPr>
          <p:cNvPr id="3" name="Content Placeholder 2"/>
          <p:cNvSpPr>
            <a:spLocks noGrp="1"/>
          </p:cNvSpPr>
          <p:nvPr>
            <p:ph idx="1"/>
          </p:nvPr>
        </p:nvSpPr>
        <p:spPr>
          <a:xfrm>
            <a:off x="457200" y="1371600"/>
            <a:ext cx="8305800" cy="4754563"/>
          </a:xfrm>
        </p:spPr>
        <p:txBody>
          <a:bodyPr>
            <a:normAutofit/>
          </a:bodyPr>
          <a:lstStyle/>
          <a:p>
            <a:pPr algn="just"/>
            <a:r>
              <a:rPr lang="en-US" dirty="0" smtClean="0"/>
              <a:t>6 </a:t>
            </a:r>
            <a:r>
              <a:rPr lang="en-US" dirty="0" err="1" smtClean="0"/>
              <a:t>bước</a:t>
            </a:r>
            <a:r>
              <a:rPr lang="en-US" dirty="0" smtClean="0"/>
              <a:t> </a:t>
            </a:r>
            <a:r>
              <a:rPr lang="en-US" dirty="0" err="1" smtClean="0"/>
              <a:t>trong</a:t>
            </a:r>
            <a:r>
              <a:rPr lang="en-US" dirty="0" smtClean="0"/>
              <a:t> SDLC</a:t>
            </a: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5</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pic>
        <p:nvPicPr>
          <p:cNvPr id="102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64" y="2022489"/>
            <a:ext cx="8437536" cy="4218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444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SDLC</a:t>
            </a:r>
            <a:endParaRPr lang="en-US" dirty="0"/>
          </a:p>
        </p:txBody>
      </p:sp>
      <p:sp>
        <p:nvSpPr>
          <p:cNvPr id="3" name="Content Placeholder 2"/>
          <p:cNvSpPr>
            <a:spLocks noGrp="1"/>
          </p:cNvSpPr>
          <p:nvPr>
            <p:ph idx="1"/>
          </p:nvPr>
        </p:nvSpPr>
        <p:spPr>
          <a:xfrm>
            <a:off x="457200" y="1371600"/>
            <a:ext cx="8305800" cy="4754563"/>
          </a:xfrm>
        </p:spPr>
        <p:txBody>
          <a:bodyPr>
            <a:normAutofit/>
          </a:bodyPr>
          <a:lstStyle/>
          <a:p>
            <a:pPr algn="just"/>
            <a:r>
              <a:rPr lang="en-US" dirty="0" smtClean="0"/>
              <a:t>6 </a:t>
            </a:r>
            <a:r>
              <a:rPr lang="en-US" dirty="0" err="1" smtClean="0"/>
              <a:t>bước</a:t>
            </a:r>
            <a:r>
              <a:rPr lang="en-US" dirty="0" smtClean="0"/>
              <a:t> </a:t>
            </a:r>
            <a:r>
              <a:rPr lang="en-US" dirty="0" err="1" smtClean="0"/>
              <a:t>trong</a:t>
            </a:r>
            <a:r>
              <a:rPr lang="en-US" dirty="0" smtClean="0"/>
              <a:t> SDLC</a:t>
            </a: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6</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pic>
        <p:nvPicPr>
          <p:cNvPr id="4" name="Picture 3"/>
          <p:cNvPicPr>
            <a:picLocks noChangeAspect="1"/>
          </p:cNvPicPr>
          <p:nvPr/>
        </p:nvPicPr>
        <p:blipFill>
          <a:blip r:embed="rId3"/>
          <a:stretch>
            <a:fillRect/>
          </a:stretch>
        </p:blipFill>
        <p:spPr>
          <a:xfrm>
            <a:off x="228601" y="1981200"/>
            <a:ext cx="8686800" cy="4128173"/>
          </a:xfrm>
          <a:prstGeom prst="rect">
            <a:avLst/>
          </a:prstGeom>
        </p:spPr>
      </p:pic>
    </p:spTree>
    <p:extLst>
      <p:ext uri="{BB962C8B-B14F-4D97-AF65-F5344CB8AC3E}">
        <p14:creationId xmlns:p14="http://schemas.microsoft.com/office/powerpoint/2010/main" val="1121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Một</a:t>
            </a:r>
            <a:r>
              <a:rPr lang="en-US" dirty="0" smtClean="0"/>
              <a:t> </a:t>
            </a:r>
            <a:r>
              <a:rPr lang="en-US" dirty="0" err="1" smtClean="0"/>
              <a:t>chút</a:t>
            </a:r>
            <a:r>
              <a:rPr lang="en-US" dirty="0" smtClean="0"/>
              <a:t> </a:t>
            </a:r>
            <a:r>
              <a:rPr lang="en-US" dirty="0" err="1" smtClean="0"/>
              <a:t>phân</a:t>
            </a:r>
            <a:r>
              <a:rPr lang="en-US" dirty="0" smtClean="0"/>
              <a:t> </a:t>
            </a:r>
            <a:r>
              <a:rPr lang="en-US" dirty="0" err="1" smtClean="0"/>
              <a:t>biệt</a:t>
            </a:r>
            <a:endParaRPr lang="en-US" dirty="0"/>
          </a:p>
        </p:txBody>
      </p:sp>
      <p:sp>
        <p:nvSpPr>
          <p:cNvPr id="3" name="Content Placeholder 2"/>
          <p:cNvSpPr>
            <a:spLocks noGrp="1"/>
          </p:cNvSpPr>
          <p:nvPr>
            <p:ph idx="1"/>
          </p:nvPr>
        </p:nvSpPr>
        <p:spPr>
          <a:xfrm>
            <a:off x="457200" y="1371600"/>
            <a:ext cx="8305800" cy="4754563"/>
          </a:xfrm>
        </p:spPr>
        <p:txBody>
          <a:bodyPr>
            <a:normAutofit/>
          </a:bodyPr>
          <a:lstStyle/>
          <a:p>
            <a:pPr algn="just"/>
            <a:r>
              <a:rPr lang="en-US" dirty="0"/>
              <a:t>Software development life </a:t>
            </a:r>
            <a:r>
              <a:rPr lang="en-US" dirty="0" smtClean="0"/>
              <a:t>cycle (SDLC) vs Product development life cycle (PDLC)</a:t>
            </a:r>
          </a:p>
          <a:p>
            <a:pPr lvl="1" algn="just"/>
            <a:r>
              <a:rPr lang="en-US" dirty="0" smtClean="0"/>
              <a:t>SDLC </a:t>
            </a:r>
            <a:r>
              <a:rPr lang="en-US" dirty="0" err="1" smtClean="0"/>
              <a:t>và</a:t>
            </a:r>
            <a:r>
              <a:rPr lang="en-US" dirty="0" smtClean="0"/>
              <a:t> PDLC </a:t>
            </a:r>
            <a:r>
              <a:rPr lang="en-US" dirty="0" err="1" smtClean="0"/>
              <a:t>đều</a:t>
            </a:r>
            <a:r>
              <a:rPr lang="en-US" dirty="0" smtClean="0"/>
              <a:t> </a:t>
            </a:r>
            <a:r>
              <a:rPr lang="en-US" dirty="0" err="1" smtClean="0"/>
              <a:t>là</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tiếp</a:t>
            </a:r>
            <a:r>
              <a:rPr lang="en-US" dirty="0" smtClean="0"/>
              <a:t> </a:t>
            </a:r>
            <a:r>
              <a:rPr lang="en-US" dirty="0" err="1" smtClean="0"/>
              <a:t>cận</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trong</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các</a:t>
            </a:r>
            <a:r>
              <a:rPr lang="en-US" dirty="0" smtClean="0"/>
              <a:t> </a:t>
            </a:r>
            <a:r>
              <a:rPr lang="en-US" dirty="0" err="1" smtClean="0"/>
              <a:t>dự</a:t>
            </a:r>
            <a:r>
              <a:rPr lang="en-US" dirty="0" smtClean="0"/>
              <a:t> </a:t>
            </a:r>
            <a:r>
              <a:rPr lang="en-US" dirty="0" err="1" smtClean="0"/>
              <a:t>án</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nhằm</a:t>
            </a:r>
            <a:r>
              <a:rPr lang="en-US" dirty="0" smtClean="0"/>
              <a:t> </a:t>
            </a:r>
            <a:r>
              <a:rPr lang="en-US" dirty="0" err="1" smtClean="0"/>
              <a:t>mang</a:t>
            </a:r>
            <a:r>
              <a:rPr lang="en-US" dirty="0" smtClean="0"/>
              <a:t> </a:t>
            </a:r>
            <a:r>
              <a:rPr lang="en-US" dirty="0" err="1" smtClean="0"/>
              <a:t>lại</a:t>
            </a:r>
            <a:r>
              <a:rPr lang="en-US" dirty="0" smtClean="0"/>
              <a:t> </a:t>
            </a:r>
            <a:r>
              <a:rPr lang="en-US" dirty="0" err="1" smtClean="0"/>
              <a:t>sự</a:t>
            </a:r>
            <a:r>
              <a:rPr lang="en-US" dirty="0" smtClean="0"/>
              <a:t> </a:t>
            </a:r>
            <a:r>
              <a:rPr lang="en-US" dirty="0" err="1" smtClean="0"/>
              <a:t>thành</a:t>
            </a:r>
            <a:r>
              <a:rPr lang="en-US" dirty="0" smtClean="0"/>
              <a:t> </a:t>
            </a:r>
            <a:r>
              <a:rPr lang="en-US" dirty="0" err="1" smtClean="0"/>
              <a:t>công</a:t>
            </a:r>
            <a:r>
              <a:rPr lang="en-US" dirty="0" smtClean="0"/>
              <a:t> </a:t>
            </a:r>
            <a:r>
              <a:rPr lang="en-US" dirty="0" err="1" smtClean="0"/>
              <a:t>cho</a:t>
            </a:r>
            <a:r>
              <a:rPr lang="en-US" dirty="0" smtClean="0"/>
              <a:t> </a:t>
            </a:r>
            <a:r>
              <a:rPr lang="en-US" dirty="0" err="1" smtClean="0"/>
              <a:t>dự</a:t>
            </a:r>
            <a:r>
              <a:rPr lang="en-US" dirty="0" smtClean="0"/>
              <a:t> </a:t>
            </a:r>
            <a:r>
              <a:rPr lang="en-US" dirty="0" err="1" smtClean="0"/>
              <a:t>án</a:t>
            </a:r>
            <a:r>
              <a:rPr lang="en-US" dirty="0" smtClean="0"/>
              <a:t>.</a:t>
            </a:r>
          </a:p>
          <a:p>
            <a:pPr lvl="1" algn="just"/>
            <a:r>
              <a:rPr lang="en-US" dirty="0" err="1" smtClean="0"/>
              <a:t>Sự</a:t>
            </a:r>
            <a:r>
              <a:rPr lang="en-US" dirty="0" smtClean="0"/>
              <a:t> </a:t>
            </a:r>
            <a:r>
              <a:rPr lang="en-US" dirty="0" err="1" smtClean="0"/>
              <a:t>khác</a:t>
            </a:r>
            <a:r>
              <a:rPr lang="en-US" dirty="0" smtClean="0"/>
              <a:t> </a:t>
            </a:r>
            <a:r>
              <a:rPr lang="en-US" dirty="0" err="1" smtClean="0"/>
              <a:t>biệt</a:t>
            </a:r>
            <a:r>
              <a:rPr lang="en-US" dirty="0" smtClean="0"/>
              <a:t> </a:t>
            </a:r>
            <a:r>
              <a:rPr lang="en-US" dirty="0" err="1" smtClean="0"/>
              <a:t>cơ</a:t>
            </a:r>
            <a:r>
              <a:rPr lang="en-US" dirty="0" smtClean="0"/>
              <a:t> </a:t>
            </a:r>
            <a:r>
              <a:rPr lang="en-US" dirty="0" err="1" smtClean="0"/>
              <a:t>bản</a:t>
            </a:r>
            <a:r>
              <a:rPr lang="en-US" dirty="0" smtClean="0"/>
              <a:t> </a:t>
            </a:r>
            <a:r>
              <a:rPr lang="en-US" dirty="0" err="1" smtClean="0"/>
              <a:t>nhất</a:t>
            </a:r>
            <a:r>
              <a:rPr lang="en-US" dirty="0" smtClean="0"/>
              <a:t> </a:t>
            </a:r>
            <a:r>
              <a:rPr lang="en-US" dirty="0" err="1" smtClean="0"/>
              <a:t>giữa</a:t>
            </a:r>
            <a:r>
              <a:rPr lang="en-US" dirty="0" smtClean="0"/>
              <a:t> SDLC </a:t>
            </a:r>
            <a:r>
              <a:rPr lang="en-US" dirty="0" err="1" smtClean="0"/>
              <a:t>và</a:t>
            </a:r>
            <a:r>
              <a:rPr lang="en-US" dirty="0" smtClean="0"/>
              <a:t> PDLC </a:t>
            </a:r>
            <a:r>
              <a:rPr lang="en-US" dirty="0" err="1" smtClean="0"/>
              <a:t>là</a:t>
            </a:r>
            <a:r>
              <a:rPr lang="en-US" dirty="0" smtClean="0"/>
              <a:t>: SDLC </a:t>
            </a:r>
            <a:r>
              <a:rPr lang="en-US" dirty="0" err="1" smtClean="0"/>
              <a:t>tập</a:t>
            </a:r>
            <a:r>
              <a:rPr lang="en-US" dirty="0" smtClean="0"/>
              <a:t> </a:t>
            </a:r>
            <a:r>
              <a:rPr lang="en-US" dirty="0" err="1" smtClean="0"/>
              <a:t>trung</a:t>
            </a:r>
            <a:r>
              <a:rPr lang="en-US" dirty="0" smtClean="0"/>
              <a:t> </a:t>
            </a:r>
            <a:r>
              <a:rPr lang="en-US" dirty="0" err="1" smtClean="0"/>
              <a:t>vào</a:t>
            </a:r>
            <a:r>
              <a:rPr lang="en-US" dirty="0"/>
              <a:t> </a:t>
            </a:r>
            <a:r>
              <a:rPr lang="en-US" dirty="0" err="1" smtClean="0"/>
              <a:t>các</a:t>
            </a:r>
            <a:r>
              <a:rPr lang="en-US" dirty="0" smtClean="0"/>
              <a:t> </a:t>
            </a:r>
            <a:r>
              <a:rPr lang="en-US" dirty="0" err="1" smtClean="0"/>
              <a:t>bước</a:t>
            </a:r>
            <a:r>
              <a:rPr lang="en-US" dirty="0" smtClean="0"/>
              <a:t> </a:t>
            </a:r>
            <a:r>
              <a:rPr lang="en-US" dirty="0" err="1" smtClean="0"/>
              <a:t>trong</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còn</a:t>
            </a:r>
            <a:r>
              <a:rPr lang="en-US" dirty="0" smtClean="0"/>
              <a:t> PDLC </a:t>
            </a:r>
            <a:r>
              <a:rPr lang="en-US" dirty="0" err="1" smtClean="0"/>
              <a:t>tập</a:t>
            </a:r>
            <a:r>
              <a:rPr lang="en-US" dirty="0" smtClean="0"/>
              <a:t> </a:t>
            </a:r>
            <a:r>
              <a:rPr lang="en-US" dirty="0" err="1" smtClean="0"/>
              <a:t>trung</a:t>
            </a:r>
            <a:r>
              <a:rPr lang="en-US" dirty="0" smtClean="0"/>
              <a:t> </a:t>
            </a:r>
            <a:r>
              <a:rPr lang="en-US" dirty="0" err="1" smtClean="0"/>
              <a:t>vào</a:t>
            </a:r>
            <a:r>
              <a:rPr lang="en-US" dirty="0" smtClean="0"/>
              <a:t> </a:t>
            </a:r>
            <a:r>
              <a:rPr lang="en-US" dirty="0" err="1" smtClean="0"/>
              <a:t>toàn</a:t>
            </a:r>
            <a:r>
              <a:rPr lang="en-US" dirty="0" smtClean="0"/>
              <a:t> </a:t>
            </a:r>
            <a:r>
              <a:rPr lang="en-US" dirty="0" err="1" smtClean="0"/>
              <a:t>bộ</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từ</a:t>
            </a:r>
            <a:r>
              <a:rPr lang="en-US" dirty="0" smtClean="0"/>
              <a:t> ý </a:t>
            </a:r>
            <a:r>
              <a:rPr lang="en-US" dirty="0" err="1" smtClean="0"/>
              <a:t>tưởng</a:t>
            </a:r>
            <a:r>
              <a:rPr lang="en-US" dirty="0" smtClean="0"/>
              <a:t> </a:t>
            </a:r>
            <a:r>
              <a:rPr lang="en-US" dirty="0" err="1" smtClean="0"/>
              <a:t>đến</a:t>
            </a:r>
            <a:r>
              <a:rPr lang="en-US" dirty="0" smtClean="0"/>
              <a:t> </a:t>
            </a:r>
            <a:r>
              <a:rPr lang="en-US" dirty="0" err="1" smtClean="0"/>
              <a:t>sản</a:t>
            </a:r>
            <a:r>
              <a:rPr lang="en-US" dirty="0" smtClean="0"/>
              <a:t> </a:t>
            </a:r>
            <a:r>
              <a:rPr lang="en-US" dirty="0" err="1" smtClean="0"/>
              <a:t>xuất</a:t>
            </a:r>
            <a:r>
              <a:rPr lang="en-US" dirty="0" smtClean="0"/>
              <a:t> </a:t>
            </a:r>
            <a:r>
              <a:rPr lang="en-US" dirty="0" err="1" smtClean="0"/>
              <a:t>cũng</a:t>
            </a:r>
            <a:r>
              <a:rPr lang="en-US" dirty="0" smtClean="0"/>
              <a:t> </a:t>
            </a:r>
            <a:r>
              <a:rPr lang="en-US" dirty="0" err="1" smtClean="0"/>
              <a:t>như</a:t>
            </a:r>
            <a:r>
              <a:rPr lang="en-US" dirty="0" smtClean="0"/>
              <a:t> </a:t>
            </a:r>
            <a:r>
              <a:rPr lang="en-US" dirty="0" err="1" smtClean="0"/>
              <a:t>đưa</a:t>
            </a:r>
            <a:r>
              <a:rPr lang="en-US" dirty="0" smtClean="0"/>
              <a:t> </a:t>
            </a:r>
            <a:r>
              <a:rPr lang="en-US" dirty="0" err="1" smtClean="0"/>
              <a:t>sản</a:t>
            </a:r>
            <a:r>
              <a:rPr lang="en-US" dirty="0" smtClean="0"/>
              <a:t> </a:t>
            </a:r>
            <a:r>
              <a:rPr lang="en-US" dirty="0" err="1" smtClean="0"/>
              <a:t>phẩm</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đến</a:t>
            </a:r>
            <a:r>
              <a:rPr lang="en-US" dirty="0" smtClean="0"/>
              <a:t> </a:t>
            </a:r>
            <a:r>
              <a:rPr lang="en-US" dirty="0" err="1" smtClean="0"/>
              <a:t>với</a:t>
            </a:r>
            <a:r>
              <a:rPr lang="en-US" dirty="0" smtClean="0"/>
              <a:t> </a:t>
            </a:r>
            <a:r>
              <a:rPr lang="en-US" dirty="0" err="1" smtClean="0"/>
              <a:t>người</a:t>
            </a:r>
            <a:r>
              <a:rPr lang="en-US" dirty="0" smtClean="0"/>
              <a:t> </a:t>
            </a:r>
            <a:r>
              <a:rPr lang="en-US" dirty="0" err="1" smtClean="0"/>
              <a:t>dùng</a:t>
            </a:r>
            <a:r>
              <a:rPr lang="en-US" dirty="0" smtClean="0"/>
              <a:t>.</a:t>
            </a: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7</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spTree>
    <p:extLst>
      <p:ext uri="{BB962C8B-B14F-4D97-AF65-F5344CB8AC3E}">
        <p14:creationId xmlns:p14="http://schemas.microsoft.com/office/powerpoint/2010/main" val="13941153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PDLC</a:t>
            </a:r>
            <a:endParaRPr lang="en-US" dirty="0"/>
          </a:p>
        </p:txBody>
      </p:sp>
      <p:sp>
        <p:nvSpPr>
          <p:cNvPr id="3" name="Content Placeholder 2"/>
          <p:cNvSpPr>
            <a:spLocks noGrp="1"/>
          </p:cNvSpPr>
          <p:nvPr>
            <p:ph idx="1"/>
          </p:nvPr>
        </p:nvSpPr>
        <p:spPr>
          <a:xfrm>
            <a:off x="457200" y="1371600"/>
            <a:ext cx="8305800" cy="4754563"/>
          </a:xfrm>
        </p:spPr>
        <p:txBody>
          <a:bodyPr>
            <a:normAutofit/>
          </a:bodyPr>
          <a:lstStyle/>
          <a:p>
            <a:pPr algn="just"/>
            <a:r>
              <a:rPr lang="en-US" dirty="0" smtClean="0"/>
              <a:t>7 </a:t>
            </a:r>
            <a:r>
              <a:rPr lang="en-US" dirty="0" err="1" smtClean="0"/>
              <a:t>bước</a:t>
            </a:r>
            <a:r>
              <a:rPr lang="en-US" dirty="0" smtClean="0"/>
              <a:t> </a:t>
            </a:r>
            <a:r>
              <a:rPr lang="en-US" dirty="0" err="1" smtClean="0"/>
              <a:t>trong</a:t>
            </a:r>
            <a:r>
              <a:rPr lang="en-US" dirty="0" smtClean="0"/>
              <a:t> PDLC</a:t>
            </a: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8</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pic>
        <p:nvPicPr>
          <p:cNvPr id="4" name="Picture 3"/>
          <p:cNvPicPr>
            <a:picLocks noChangeAspect="1"/>
          </p:cNvPicPr>
          <p:nvPr/>
        </p:nvPicPr>
        <p:blipFill>
          <a:blip r:embed="rId3"/>
          <a:stretch>
            <a:fillRect/>
          </a:stretch>
        </p:blipFill>
        <p:spPr>
          <a:xfrm>
            <a:off x="2081601" y="1953635"/>
            <a:ext cx="5133198" cy="4287622"/>
          </a:xfrm>
          <a:prstGeom prst="rect">
            <a:avLst/>
          </a:prstGeom>
        </p:spPr>
      </p:pic>
    </p:spTree>
    <p:extLst>
      <p:ext uri="{BB962C8B-B14F-4D97-AF65-F5344CB8AC3E}">
        <p14:creationId xmlns:p14="http://schemas.microsoft.com/office/powerpoint/2010/main" val="17278921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PDLC</a:t>
            </a:r>
            <a:endParaRPr lang="en-US" dirty="0"/>
          </a:p>
        </p:txBody>
      </p:sp>
      <p:sp>
        <p:nvSpPr>
          <p:cNvPr id="3" name="Content Placeholder 2"/>
          <p:cNvSpPr>
            <a:spLocks noGrp="1"/>
          </p:cNvSpPr>
          <p:nvPr>
            <p:ph idx="1"/>
          </p:nvPr>
        </p:nvSpPr>
        <p:spPr>
          <a:xfrm>
            <a:off x="457200" y="1371600"/>
            <a:ext cx="8305800" cy="4754563"/>
          </a:xfrm>
        </p:spPr>
        <p:txBody>
          <a:bodyPr>
            <a:normAutofit/>
          </a:bodyPr>
          <a:lstStyle/>
          <a:p>
            <a:pPr algn="just"/>
            <a:r>
              <a:rPr lang="en-US" dirty="0" smtClean="0"/>
              <a:t>7 </a:t>
            </a:r>
            <a:r>
              <a:rPr lang="en-US" dirty="0" err="1" smtClean="0"/>
              <a:t>bước</a:t>
            </a:r>
            <a:r>
              <a:rPr lang="en-US" dirty="0" smtClean="0"/>
              <a:t> </a:t>
            </a:r>
            <a:r>
              <a:rPr lang="en-US" dirty="0" err="1" smtClean="0"/>
              <a:t>trong</a:t>
            </a:r>
            <a:r>
              <a:rPr lang="en-US" dirty="0" smtClean="0"/>
              <a:t> PDLC</a:t>
            </a: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9</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pic>
        <p:nvPicPr>
          <p:cNvPr id="8" name="Picture 7"/>
          <p:cNvPicPr>
            <a:picLocks noChangeAspect="1"/>
          </p:cNvPicPr>
          <p:nvPr/>
        </p:nvPicPr>
        <p:blipFill>
          <a:blip r:embed="rId3"/>
          <a:stretch>
            <a:fillRect/>
          </a:stretch>
        </p:blipFill>
        <p:spPr>
          <a:xfrm>
            <a:off x="355459" y="1907381"/>
            <a:ext cx="8407542" cy="4341019"/>
          </a:xfrm>
          <a:prstGeom prst="rect">
            <a:avLst/>
          </a:prstGeom>
        </p:spPr>
      </p:pic>
    </p:spTree>
    <p:extLst>
      <p:ext uri="{BB962C8B-B14F-4D97-AF65-F5344CB8AC3E}">
        <p14:creationId xmlns:p14="http://schemas.microsoft.com/office/powerpoint/2010/main" val="26374987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Một</a:t>
            </a:r>
            <a:r>
              <a:rPr lang="en-US" dirty="0" smtClean="0"/>
              <a:t> </a:t>
            </a:r>
            <a:r>
              <a:rPr lang="en-US" dirty="0" err="1" smtClean="0"/>
              <a:t>chút</a:t>
            </a:r>
            <a:r>
              <a:rPr lang="en-US" dirty="0" smtClean="0"/>
              <a:t> </a:t>
            </a:r>
            <a:r>
              <a:rPr lang="en-US" dirty="0" err="1" smtClean="0"/>
              <a:t>phân</a:t>
            </a:r>
            <a:r>
              <a:rPr lang="en-US" dirty="0" smtClean="0"/>
              <a:t> </a:t>
            </a:r>
            <a:r>
              <a:rPr lang="en-US" dirty="0" err="1" smtClean="0"/>
              <a:t>biệt</a:t>
            </a:r>
            <a:endParaRPr lang="en-US" dirty="0"/>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10</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graphicFrame>
        <p:nvGraphicFramePr>
          <p:cNvPr id="4" name="Table 3"/>
          <p:cNvGraphicFramePr>
            <a:graphicFrameLocks noGrp="1"/>
          </p:cNvGraphicFramePr>
          <p:nvPr>
            <p:extLst>
              <p:ext uri="{D42A27DB-BD31-4B8C-83A1-F6EECF244321}">
                <p14:modId xmlns:p14="http://schemas.microsoft.com/office/powerpoint/2010/main" val="1976259242"/>
              </p:ext>
            </p:extLst>
          </p:nvPr>
        </p:nvGraphicFramePr>
        <p:xfrm>
          <a:off x="266700" y="1303655"/>
          <a:ext cx="8763000" cy="5120640"/>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3612761106"/>
                    </a:ext>
                  </a:extLst>
                </a:gridCol>
                <a:gridCol w="4381500">
                  <a:extLst>
                    <a:ext uri="{9D8B030D-6E8A-4147-A177-3AD203B41FA5}">
                      <a16:colId xmlns:a16="http://schemas.microsoft.com/office/drawing/2014/main" val="1572777438"/>
                    </a:ext>
                  </a:extLst>
                </a:gridCol>
              </a:tblGrid>
              <a:tr h="332991">
                <a:tc>
                  <a:txBody>
                    <a:bodyPr/>
                    <a:lstStyle/>
                    <a:p>
                      <a:r>
                        <a:rPr lang="en-US" sz="1800" b="1" i="0" kern="1200" dirty="0" smtClean="0">
                          <a:solidFill>
                            <a:schemeClr val="lt1"/>
                          </a:solidFill>
                          <a:effectLst/>
                          <a:latin typeface="+mn-lt"/>
                          <a:ea typeface="+mn-ea"/>
                          <a:cs typeface="+mn-cs"/>
                        </a:rPr>
                        <a:t>Software Development Life Cycle (SDLC)</a:t>
                      </a:r>
                      <a:endParaRPr lang="en-US" dirty="0"/>
                    </a:p>
                  </a:txBody>
                  <a:tcPr/>
                </a:tc>
                <a:tc>
                  <a:txBody>
                    <a:bodyPr/>
                    <a:lstStyle/>
                    <a:p>
                      <a:r>
                        <a:rPr lang="en-US" sz="1800" b="1" i="0" kern="1200" dirty="0" smtClean="0">
                          <a:solidFill>
                            <a:schemeClr val="lt1"/>
                          </a:solidFill>
                          <a:effectLst/>
                          <a:latin typeface="+mn-lt"/>
                          <a:ea typeface="+mn-ea"/>
                          <a:cs typeface="+mn-cs"/>
                        </a:rPr>
                        <a:t>Product Development Life Cycle (PDLC)</a:t>
                      </a:r>
                      <a:endParaRPr lang="en-US" dirty="0"/>
                    </a:p>
                  </a:txBody>
                  <a:tcPr/>
                </a:tc>
                <a:extLst>
                  <a:ext uri="{0D108BD9-81ED-4DB2-BD59-A6C34878D82A}">
                    <a16:rowId xmlns:a16="http://schemas.microsoft.com/office/drawing/2014/main" val="1550226602"/>
                  </a:ext>
                </a:extLst>
              </a:tr>
              <a:tr h="582734">
                <a:tc>
                  <a:txBody>
                    <a:bodyPr/>
                    <a:lstStyle/>
                    <a:p>
                      <a:pPr algn="just"/>
                      <a:r>
                        <a:rPr lang="vi-VN" sz="1800" dirty="0" smtClean="0">
                          <a:latin typeface="Arial" panose="020B0604020202020204" pitchFamily="34" charset="0"/>
                          <a:cs typeface="Arial" panose="020B0604020202020204" pitchFamily="34" charset="0"/>
                        </a:rPr>
                        <a:t>SDLC tập trung vào các khía cạnh kỹ thuật của phát triển phần mềm</a:t>
                      </a:r>
                      <a:r>
                        <a:rPr lang="en-US" sz="1800" dirty="0" smtClean="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txBody>
                  <a:tcPr/>
                </a:tc>
                <a:tc>
                  <a:txBody>
                    <a:bodyPr/>
                    <a:lstStyle/>
                    <a:p>
                      <a:pPr algn="just"/>
                      <a:r>
                        <a:rPr lang="vi-VN" sz="1800" dirty="0" smtClean="0">
                          <a:latin typeface="Arial" panose="020B0604020202020204" pitchFamily="34" charset="0"/>
                          <a:cs typeface="Arial" panose="020B0604020202020204" pitchFamily="34" charset="0"/>
                        </a:rPr>
                        <a:t>PDLC tập trung vào toàn bộ quá trình đưa sản phẩm mới ra thị trường.</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66249574"/>
                  </a:ext>
                </a:extLst>
              </a:tr>
              <a:tr h="1331963">
                <a:tc>
                  <a:txBody>
                    <a:bodyPr/>
                    <a:lstStyle/>
                    <a:p>
                      <a:pPr algn="just"/>
                      <a:r>
                        <a:rPr lang="en-US" sz="1800" dirty="0" smtClean="0">
                          <a:latin typeface="Arial" panose="020B0604020202020204" pitchFamily="34" charset="0"/>
                          <a:cs typeface="Arial" panose="020B0604020202020204" pitchFamily="34" charset="0"/>
                        </a:rPr>
                        <a:t>B</a:t>
                      </a:r>
                      <a:r>
                        <a:rPr lang="vi-VN" sz="1800" dirty="0" smtClean="0">
                          <a:latin typeface="Arial" panose="020B0604020202020204" pitchFamily="34" charset="0"/>
                          <a:cs typeface="Arial" panose="020B0604020202020204" pitchFamily="34" charset="0"/>
                        </a:rPr>
                        <a:t>ao gồm các bước lập kế hoạch, phân tích, thiết kế, phát triển, thử nghiệm, triển khai và bảo trì.</a:t>
                      </a:r>
                      <a:endParaRPr lang="en-US" sz="1800" dirty="0">
                        <a:latin typeface="Arial" panose="020B0604020202020204" pitchFamily="34" charset="0"/>
                        <a:cs typeface="Arial" panose="020B0604020202020204" pitchFamily="34" charset="0"/>
                      </a:endParaRPr>
                    </a:p>
                  </a:txBody>
                  <a:tcPr/>
                </a:tc>
                <a:tc>
                  <a:txBody>
                    <a:bodyPr/>
                    <a:lstStyle/>
                    <a:p>
                      <a:pPr algn="just"/>
                      <a:r>
                        <a:rPr lang="en-US" sz="1800" dirty="0" smtClean="0">
                          <a:latin typeface="Arial" panose="020B0604020202020204" pitchFamily="34" charset="0"/>
                          <a:cs typeface="Arial" panose="020B0604020202020204" pitchFamily="34" charset="0"/>
                        </a:rPr>
                        <a:t>B</a:t>
                      </a:r>
                      <a:r>
                        <a:rPr lang="vi-VN" sz="1800" dirty="0" smtClean="0">
                          <a:latin typeface="Arial" panose="020B0604020202020204" pitchFamily="34" charset="0"/>
                          <a:cs typeface="Arial" panose="020B0604020202020204" pitchFamily="34" charset="0"/>
                        </a:rPr>
                        <a:t>ao gồm việc xác định một vấn đề hoặc cơ hội, tiến hành nghiên cứu thị trường, xác định các yêu cầu về sản phẩm, tạo nguyên mẫu, thử nghiệm và tung ra sản phẩm cuối cùng.</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45024795"/>
                  </a:ext>
                </a:extLst>
              </a:tr>
              <a:tr h="1331963">
                <a:tc>
                  <a:txBody>
                    <a:bodyPr/>
                    <a:lstStyle/>
                    <a:p>
                      <a:pPr algn="just"/>
                      <a:r>
                        <a:rPr lang="vi-VN" sz="1800" dirty="0" smtClean="0">
                          <a:latin typeface="Arial" panose="020B0604020202020204" pitchFamily="34" charset="0"/>
                          <a:cs typeface="Arial" panose="020B0604020202020204" pitchFamily="34" charset="0"/>
                        </a:rPr>
                        <a:t>Mục tiêu chính là tạo ra một sản phẩm phần mềm chất lượng cao đáp ứng các yêu cầu </a:t>
                      </a:r>
                      <a:r>
                        <a:rPr lang="en-US" sz="1800" dirty="0" err="1" smtClean="0">
                          <a:latin typeface="Arial" panose="020B0604020202020204" pitchFamily="34" charset="0"/>
                          <a:cs typeface="Arial" panose="020B0604020202020204" pitchFamily="34" charset="0"/>
                        </a:rPr>
                        <a:t>đã</a:t>
                      </a:r>
                      <a:r>
                        <a:rPr lang="en-US" sz="1800" baseline="0" dirty="0" smtClean="0">
                          <a:latin typeface="Arial" panose="020B0604020202020204" pitchFamily="34" charset="0"/>
                          <a:cs typeface="Arial" panose="020B0604020202020204" pitchFamily="34" charset="0"/>
                        </a:rPr>
                        <a:t> </a:t>
                      </a:r>
                      <a:r>
                        <a:rPr lang="vi-VN" sz="1800" dirty="0" smtClean="0">
                          <a:latin typeface="Arial" panose="020B0604020202020204" pitchFamily="34" charset="0"/>
                          <a:cs typeface="Arial" panose="020B0604020202020204" pitchFamily="34" charset="0"/>
                        </a:rPr>
                        <a:t>được xác định và được phân phối đúng thời hạn cũng như trong ngân sách được phân bổ.</a:t>
                      </a:r>
                      <a:endParaRPr lang="en-US" sz="1800" dirty="0">
                        <a:latin typeface="Arial" panose="020B0604020202020204" pitchFamily="34" charset="0"/>
                        <a:cs typeface="Arial" panose="020B0604020202020204" pitchFamily="34" charset="0"/>
                      </a:endParaRPr>
                    </a:p>
                  </a:txBody>
                  <a:tcPr/>
                </a:tc>
                <a:tc>
                  <a:txBody>
                    <a:bodyPr/>
                    <a:lstStyle/>
                    <a:p>
                      <a:pPr algn="just"/>
                      <a:r>
                        <a:rPr lang="vi-VN" sz="1800" dirty="0" smtClean="0">
                          <a:latin typeface="Arial" panose="020B0604020202020204" pitchFamily="34" charset="0"/>
                          <a:cs typeface="Arial" panose="020B0604020202020204" pitchFamily="34" charset="0"/>
                        </a:rPr>
                        <a:t>Mục tiêu chính của là tạo ra sản phẩm đáp ứng nhu cầu của khách hàng và mang lại lợi nhuận cho công ty.</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71484501"/>
                  </a:ext>
                </a:extLst>
              </a:tr>
              <a:tr h="1082220">
                <a:tc>
                  <a:txBody>
                    <a:bodyPr/>
                    <a:lstStyle/>
                    <a:p>
                      <a:pPr algn="just"/>
                      <a:r>
                        <a:rPr lang="en-US" sz="1800" dirty="0" smtClean="0">
                          <a:latin typeface="Arial" panose="020B0604020202020204" pitchFamily="34" charset="0"/>
                          <a:cs typeface="Arial" panose="020B0604020202020204" pitchFamily="34" charset="0"/>
                        </a:rPr>
                        <a:t>C</a:t>
                      </a:r>
                      <a:r>
                        <a:rPr lang="vi-VN" sz="1800" dirty="0" smtClean="0">
                          <a:latin typeface="Arial" panose="020B0604020202020204" pitchFamily="34" charset="0"/>
                          <a:cs typeface="Arial" panose="020B0604020202020204" pitchFamily="34" charset="0"/>
                        </a:rPr>
                        <a:t>ung cấp một </a:t>
                      </a:r>
                      <a:r>
                        <a:rPr lang="en-US" sz="1800" dirty="0" err="1" smtClean="0">
                          <a:latin typeface="Arial" panose="020B0604020202020204" pitchFamily="34" charset="0"/>
                          <a:cs typeface="Arial" panose="020B0604020202020204" pitchFamily="34" charset="0"/>
                        </a:rPr>
                        <a:t>khuôn</a:t>
                      </a:r>
                      <a:r>
                        <a:rPr lang="en-US" sz="1800" baseline="0" dirty="0" smtClean="0">
                          <a:latin typeface="Arial" panose="020B0604020202020204" pitchFamily="34" charset="0"/>
                          <a:cs typeface="Arial" panose="020B0604020202020204" pitchFamily="34" charset="0"/>
                        </a:rPr>
                        <a:t> </a:t>
                      </a:r>
                      <a:r>
                        <a:rPr lang="en-US" sz="1800" baseline="0" dirty="0" err="1" smtClean="0">
                          <a:latin typeface="Arial" panose="020B0604020202020204" pitchFamily="34" charset="0"/>
                          <a:cs typeface="Arial" panose="020B0604020202020204" pitchFamily="34" charset="0"/>
                        </a:rPr>
                        <a:t>mẫu</a:t>
                      </a:r>
                      <a:r>
                        <a:rPr lang="en-US" sz="1800" baseline="0" dirty="0" smtClean="0">
                          <a:latin typeface="Arial" panose="020B0604020202020204" pitchFamily="34" charset="0"/>
                          <a:cs typeface="Arial" panose="020B0604020202020204" pitchFamily="34" charset="0"/>
                        </a:rPr>
                        <a:t> </a:t>
                      </a:r>
                      <a:r>
                        <a:rPr lang="vi-VN" sz="1800" dirty="0" smtClean="0">
                          <a:latin typeface="Arial" panose="020B0604020202020204" pitchFamily="34" charset="0"/>
                          <a:cs typeface="Arial" panose="020B0604020202020204" pitchFamily="34" charset="0"/>
                        </a:rPr>
                        <a:t>để đảm bảo rằng phần mềm được phát triển </a:t>
                      </a:r>
                      <a:r>
                        <a:rPr lang="en-US" sz="1800" dirty="0" err="1" smtClean="0">
                          <a:latin typeface="Arial" panose="020B0604020202020204" pitchFamily="34" charset="0"/>
                          <a:cs typeface="Arial" panose="020B0604020202020204" pitchFamily="34" charset="0"/>
                        </a:rPr>
                        <a:t>đúng</a:t>
                      </a:r>
                      <a:r>
                        <a:rPr lang="vi-VN" sz="1800" dirty="0" smtClean="0">
                          <a:latin typeface="Arial" panose="020B0604020202020204" pitchFamily="34" charset="0"/>
                          <a:cs typeface="Arial" panose="020B0604020202020204" pitchFamily="34" charset="0"/>
                        </a:rPr>
                        <a:t> tiêu chuẩn </a:t>
                      </a:r>
                      <a:r>
                        <a:rPr lang="en-US" sz="1800" dirty="0" err="1" smtClean="0">
                          <a:latin typeface="Arial" panose="020B0604020202020204" pitchFamily="34" charset="0"/>
                          <a:cs typeface="Arial" panose="020B0604020202020204" pitchFamily="34" charset="0"/>
                        </a:rPr>
                        <a:t>và</a:t>
                      </a:r>
                      <a:r>
                        <a:rPr lang="en-US" sz="1800" baseline="0" dirty="0" smtClean="0">
                          <a:latin typeface="Arial" panose="020B0604020202020204" pitchFamily="34" charset="0"/>
                          <a:cs typeface="Arial" panose="020B0604020202020204" pitchFamily="34" charset="0"/>
                        </a:rPr>
                        <a:t> </a:t>
                      </a:r>
                      <a:r>
                        <a:rPr lang="en-US" sz="1800" baseline="0" dirty="0" err="1" smtClean="0">
                          <a:latin typeface="Arial" panose="020B0604020202020204" pitchFamily="34" charset="0"/>
                          <a:cs typeface="Arial" panose="020B0604020202020204" pitchFamily="34" charset="0"/>
                        </a:rPr>
                        <a:t>hoàn</a:t>
                      </a:r>
                      <a:r>
                        <a:rPr lang="en-US" sz="1800" baseline="0" dirty="0" smtClean="0">
                          <a:latin typeface="Arial" panose="020B0604020202020204" pitchFamily="34" charset="0"/>
                          <a:cs typeface="Arial" panose="020B0604020202020204" pitchFamily="34" charset="0"/>
                        </a:rPr>
                        <a:t> </a:t>
                      </a:r>
                      <a:r>
                        <a:rPr lang="en-US" sz="1800" baseline="0" dirty="0" err="1" smtClean="0">
                          <a:latin typeface="Arial" panose="020B0604020202020204" pitchFamily="34" charset="0"/>
                          <a:cs typeface="Arial" panose="020B0604020202020204" pitchFamily="34" charset="0"/>
                        </a:rPr>
                        <a:t>thành</a:t>
                      </a:r>
                      <a:r>
                        <a:rPr lang="en-US" sz="1800" baseline="0" dirty="0" smtClean="0">
                          <a:latin typeface="Arial" panose="020B0604020202020204" pitchFamily="34" charset="0"/>
                          <a:cs typeface="Arial" panose="020B0604020202020204" pitchFamily="34" charset="0"/>
                        </a:rPr>
                        <a:t> </a:t>
                      </a:r>
                      <a:r>
                        <a:rPr lang="vi-VN" sz="1800" dirty="0" smtClean="0">
                          <a:latin typeface="Arial" panose="020B0604020202020204" pitchFamily="34" charset="0"/>
                          <a:cs typeface="Arial" panose="020B0604020202020204" pitchFamily="34" charset="0"/>
                        </a:rPr>
                        <a:t>đúng thời hạn và trong ngân sách.</a:t>
                      </a:r>
                      <a:endParaRPr lang="en-US" sz="1800" dirty="0">
                        <a:latin typeface="Arial" panose="020B0604020202020204" pitchFamily="34" charset="0"/>
                        <a:cs typeface="Arial" panose="020B0604020202020204" pitchFamily="34" charset="0"/>
                      </a:endParaRPr>
                    </a:p>
                  </a:txBody>
                  <a:tcPr/>
                </a:tc>
                <a:tc>
                  <a:txBody>
                    <a:bodyPr/>
                    <a:lstStyle/>
                    <a:p>
                      <a:pPr algn="just"/>
                      <a:r>
                        <a:rPr lang="en-US" sz="1800" dirty="0" smtClean="0">
                          <a:latin typeface="Arial" panose="020B0604020202020204" pitchFamily="34" charset="0"/>
                          <a:cs typeface="Arial" panose="020B0604020202020204" pitchFamily="34" charset="0"/>
                        </a:rPr>
                        <a:t>C</a:t>
                      </a:r>
                      <a:r>
                        <a:rPr lang="vi-VN" sz="1800" dirty="0" smtClean="0">
                          <a:latin typeface="Arial" panose="020B0604020202020204" pitchFamily="34" charset="0"/>
                          <a:cs typeface="Arial" panose="020B0604020202020204" pitchFamily="34" charset="0"/>
                        </a:rPr>
                        <a:t>ung cấp một khuôn </a:t>
                      </a:r>
                      <a:r>
                        <a:rPr lang="en-US" sz="1800" dirty="0" err="1" smtClean="0">
                          <a:latin typeface="Arial" panose="020B0604020202020204" pitchFamily="34" charset="0"/>
                          <a:cs typeface="Arial" panose="020B0604020202020204" pitchFamily="34" charset="0"/>
                        </a:rPr>
                        <a:t>mẫu</a:t>
                      </a:r>
                      <a:r>
                        <a:rPr lang="vi-VN" sz="1800" dirty="0" smtClean="0">
                          <a:latin typeface="Arial" panose="020B0604020202020204" pitchFamily="34" charset="0"/>
                          <a:cs typeface="Arial" panose="020B0604020202020204" pitchFamily="34" charset="0"/>
                        </a:rPr>
                        <a:t> để đảm bảo rằng sản phẩm đáp ứng được nhu cầu của khách hàng và mang lại lợi nhuận cho công ty</a:t>
                      </a:r>
                      <a:r>
                        <a:rPr lang="en-US" sz="1800" dirty="0" smtClean="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13770795"/>
                  </a:ext>
                </a:extLst>
              </a:tr>
            </a:tbl>
          </a:graphicData>
        </a:graphic>
      </p:graphicFrame>
    </p:spTree>
    <p:extLst>
      <p:ext uri="{BB962C8B-B14F-4D97-AF65-F5344CB8AC3E}">
        <p14:creationId xmlns:p14="http://schemas.microsoft.com/office/powerpoint/2010/main" val="7315401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SDLC – </a:t>
            </a:r>
            <a:r>
              <a:rPr lang="en-US" dirty="0" err="1" smtClean="0"/>
              <a:t>Một</a:t>
            </a:r>
            <a:r>
              <a:rPr lang="en-US" dirty="0" smtClean="0"/>
              <a:t> </a:t>
            </a:r>
            <a:r>
              <a:rPr lang="en-US" dirty="0" err="1" smtClean="0"/>
              <a:t>chút</a:t>
            </a:r>
            <a:r>
              <a:rPr lang="en-US" dirty="0" smtClean="0"/>
              <a:t> </a:t>
            </a:r>
            <a:r>
              <a:rPr lang="en-US" dirty="0" err="1" smtClean="0"/>
              <a:t>lịch</a:t>
            </a:r>
            <a:r>
              <a:rPr lang="en-US" dirty="0" smtClean="0"/>
              <a:t> </a:t>
            </a:r>
            <a:r>
              <a:rPr lang="en-US" dirty="0" err="1" smtClean="0"/>
              <a:t>sử</a:t>
            </a:r>
            <a:endParaRPr lang="en-US" dirty="0"/>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11</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pic>
        <p:nvPicPr>
          <p:cNvPr id="4" name="Picture 3"/>
          <p:cNvPicPr>
            <a:picLocks noChangeAspect="1"/>
          </p:cNvPicPr>
          <p:nvPr/>
        </p:nvPicPr>
        <p:blipFill>
          <a:blip r:embed="rId3"/>
          <a:stretch>
            <a:fillRect/>
          </a:stretch>
        </p:blipFill>
        <p:spPr>
          <a:xfrm>
            <a:off x="152399" y="1474050"/>
            <a:ext cx="8889569" cy="4882300"/>
          </a:xfrm>
          <a:prstGeom prst="rect">
            <a:avLst/>
          </a:prstGeom>
        </p:spPr>
      </p:pic>
    </p:spTree>
    <p:extLst>
      <p:ext uri="{BB962C8B-B14F-4D97-AF65-F5344CB8AC3E}">
        <p14:creationId xmlns:p14="http://schemas.microsoft.com/office/powerpoint/2010/main" val="18393723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Ưu</a:t>
            </a:r>
            <a:r>
              <a:rPr lang="en-US" dirty="0" smtClean="0"/>
              <a:t> </a:t>
            </a:r>
            <a:r>
              <a:rPr lang="en-US" dirty="0" err="1" smtClean="0"/>
              <a:t>điểm</a:t>
            </a:r>
            <a:r>
              <a:rPr lang="en-US" dirty="0" smtClean="0"/>
              <a:t> </a:t>
            </a:r>
            <a:r>
              <a:rPr lang="en-US" dirty="0" err="1" smtClean="0"/>
              <a:t>của</a:t>
            </a:r>
            <a:r>
              <a:rPr lang="en-US" dirty="0" smtClean="0"/>
              <a:t> SDLC</a:t>
            </a:r>
            <a:endParaRPr lang="en-US" dirty="0"/>
          </a:p>
        </p:txBody>
      </p:sp>
      <p:sp>
        <p:nvSpPr>
          <p:cNvPr id="3" name="Content Placeholder 2"/>
          <p:cNvSpPr>
            <a:spLocks noGrp="1"/>
          </p:cNvSpPr>
          <p:nvPr>
            <p:ph idx="1"/>
          </p:nvPr>
        </p:nvSpPr>
        <p:spPr>
          <a:xfrm>
            <a:off x="457200" y="1371600"/>
            <a:ext cx="8305800" cy="4754563"/>
          </a:xfrm>
        </p:spPr>
        <p:txBody>
          <a:bodyPr>
            <a:normAutofit fontScale="85000" lnSpcReduction="20000"/>
          </a:bodyPr>
          <a:lstStyle/>
          <a:p>
            <a:pPr algn="just"/>
            <a:r>
              <a:rPr lang="vi-VN" sz="3100" b="1" dirty="0"/>
              <a:t>Phương pháp tiếp cận có cấu trúc: </a:t>
            </a:r>
            <a:r>
              <a:rPr lang="vi-VN" sz="3100" dirty="0"/>
              <a:t>SDLC cung cấp cách tiếp cận có cấu trúc để phát triển phần mềm, lập kế hoạch hiệu quả và tổ chức nhiệm vụ cho các nhà phát triển. Phương pháp này không chỉ giảm thiểu sai sót mà còn nâng cao năng suất, đảm bảo cung cấp kịp thời phần mềm chất lượng cao</a:t>
            </a:r>
            <a:r>
              <a:rPr lang="vi-VN" sz="3100" dirty="0" smtClean="0"/>
              <a:t>.</a:t>
            </a:r>
            <a:endParaRPr lang="en-US" sz="3100" dirty="0" smtClean="0"/>
          </a:p>
          <a:p>
            <a:pPr marL="0" indent="0" algn="just">
              <a:buNone/>
            </a:pPr>
            <a:endParaRPr lang="en-US" sz="3100" dirty="0"/>
          </a:p>
          <a:p>
            <a:pPr algn="just"/>
            <a:r>
              <a:rPr lang="vi-VN" sz="3100" b="1" dirty="0"/>
              <a:t>Quản lý rủi ro: </a:t>
            </a:r>
            <a:r>
              <a:rPr lang="vi-VN" sz="3100" dirty="0"/>
              <a:t>Một khía cạnh tuyệt vời của SDLC là khả năng xác định và quản lý hiệu quả các rủi ro vốn có trong quá trình phát triển phần mềm. Bằng cách xác định sớm các rủi ro tiềm ẩn, các nhà phát triển có thể chủ động giải quyết và giảm thiểu chúng, cuối cùng là giảm thiểu rủi ro chung liên quan đến phát triển phần mềm</a:t>
            </a:r>
            <a:r>
              <a:rPr lang="vi-VN" sz="3100" dirty="0" smtClean="0"/>
              <a:t>.</a:t>
            </a:r>
            <a:endParaRPr lang="en-US" sz="3100" dirty="0"/>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12</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spTree>
    <p:extLst>
      <p:ext uri="{BB962C8B-B14F-4D97-AF65-F5344CB8AC3E}">
        <p14:creationId xmlns:p14="http://schemas.microsoft.com/office/powerpoint/2010/main" val="39538181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Ưu</a:t>
            </a:r>
            <a:r>
              <a:rPr lang="en-US" dirty="0" smtClean="0"/>
              <a:t> </a:t>
            </a:r>
            <a:r>
              <a:rPr lang="en-US" dirty="0" err="1" smtClean="0"/>
              <a:t>điểm</a:t>
            </a:r>
            <a:r>
              <a:rPr lang="en-US" dirty="0" smtClean="0"/>
              <a:t> </a:t>
            </a:r>
            <a:r>
              <a:rPr lang="en-US" dirty="0" err="1" smtClean="0"/>
              <a:t>của</a:t>
            </a:r>
            <a:r>
              <a:rPr lang="en-US" dirty="0" smtClean="0"/>
              <a:t> SDLC</a:t>
            </a:r>
            <a:endParaRPr lang="en-US" dirty="0"/>
          </a:p>
        </p:txBody>
      </p:sp>
      <p:sp>
        <p:nvSpPr>
          <p:cNvPr id="3" name="Content Placeholder 2"/>
          <p:cNvSpPr>
            <a:spLocks noGrp="1"/>
          </p:cNvSpPr>
          <p:nvPr>
            <p:ph idx="1"/>
          </p:nvPr>
        </p:nvSpPr>
        <p:spPr>
          <a:xfrm>
            <a:off x="457200" y="1371600"/>
            <a:ext cx="8305800" cy="4754563"/>
          </a:xfrm>
        </p:spPr>
        <p:txBody>
          <a:bodyPr>
            <a:normAutofit fontScale="77500" lnSpcReduction="20000"/>
          </a:bodyPr>
          <a:lstStyle/>
          <a:p>
            <a:pPr algn="just"/>
            <a:r>
              <a:rPr lang="vi-VN" sz="3000" b="1" dirty="0" smtClean="0">
                <a:latin typeface="Arial (Body)"/>
              </a:rPr>
              <a:t>Tính </a:t>
            </a:r>
            <a:r>
              <a:rPr lang="vi-VN" sz="3000" b="1" dirty="0">
                <a:latin typeface="Arial (Body)"/>
              </a:rPr>
              <a:t>nhất quán: </a:t>
            </a:r>
            <a:r>
              <a:rPr lang="vi-VN" sz="3000" dirty="0">
                <a:latin typeface="Arial (Body)"/>
              </a:rPr>
              <a:t>SDLC thiết lập nền tảng cho tính nhất quán trong phát triển phần mềm thông qua </a:t>
            </a:r>
            <a:r>
              <a:rPr lang="vi-VN" sz="3100" dirty="0">
                <a:latin typeface="Arial (Body)"/>
              </a:rPr>
              <a:t>khuôn </a:t>
            </a:r>
            <a:r>
              <a:rPr lang="en-US" sz="3100" dirty="0" err="1">
                <a:latin typeface="Arial (Body)"/>
              </a:rPr>
              <a:t>mẫu</a:t>
            </a:r>
            <a:r>
              <a:rPr lang="vi-VN" sz="3100" dirty="0">
                <a:latin typeface="Arial (Body)"/>
              </a:rPr>
              <a:t> và phương pháp được tiêu chuẩn hóa. Tính nhất quán này là công cụ nâng cao chất lượng của phần mềm, đảm bảo rằng sản phẩm cuối cùng phù hợp hoàn hảo với mong </a:t>
            </a:r>
            <a:r>
              <a:rPr lang="en-US" sz="3100" dirty="0" err="1">
                <a:latin typeface="Arial (Body)"/>
              </a:rPr>
              <a:t>muốn</a:t>
            </a:r>
            <a:r>
              <a:rPr lang="vi-VN" sz="3100" dirty="0">
                <a:latin typeface="Arial (Body)"/>
              </a:rPr>
              <a:t> của khách hàng.</a:t>
            </a:r>
            <a:endParaRPr lang="en-US" sz="3100" dirty="0">
              <a:latin typeface="Arial (Body)"/>
            </a:endParaRPr>
          </a:p>
          <a:p>
            <a:pPr marL="0" indent="0" algn="just">
              <a:buNone/>
            </a:pPr>
            <a:endParaRPr lang="en-US" sz="3100" dirty="0"/>
          </a:p>
          <a:p>
            <a:pPr algn="just"/>
            <a:r>
              <a:rPr lang="vi-VN" sz="3100" b="1" dirty="0">
                <a:latin typeface="Arial (Body)"/>
              </a:rPr>
              <a:t>Hợp tác: </a:t>
            </a:r>
            <a:r>
              <a:rPr lang="vi-VN" sz="3100" dirty="0">
                <a:latin typeface="Arial (Body)"/>
              </a:rPr>
              <a:t>SDLC thúc đẩy môi trường hợp tác giữa các thành viên trong nhóm bằng cách cung cấp </a:t>
            </a:r>
            <a:r>
              <a:rPr lang="en-US" sz="3100" dirty="0" err="1" smtClean="0">
                <a:latin typeface="Arial (Body)"/>
              </a:rPr>
              <a:t>một</a:t>
            </a:r>
            <a:r>
              <a:rPr lang="en-US" sz="3100" dirty="0" smtClean="0">
                <a:latin typeface="Arial (Body)"/>
              </a:rPr>
              <a:t> </a:t>
            </a:r>
            <a:r>
              <a:rPr lang="vi-VN" sz="3100" dirty="0" smtClean="0">
                <a:latin typeface="Arial (Body)"/>
              </a:rPr>
              <a:t>ngôn </a:t>
            </a:r>
            <a:r>
              <a:rPr lang="vi-VN" sz="3100" dirty="0">
                <a:latin typeface="Arial (Body)"/>
              </a:rPr>
              <a:t>ngữ chung để giao </a:t>
            </a:r>
            <a:r>
              <a:rPr lang="vi-VN" sz="3100" dirty="0" smtClean="0">
                <a:latin typeface="Arial (Body)"/>
              </a:rPr>
              <a:t>tiếp</a:t>
            </a:r>
            <a:r>
              <a:rPr lang="en-US" sz="3100" dirty="0" smtClean="0">
                <a:latin typeface="Arial (Body)"/>
              </a:rPr>
              <a:t>.</a:t>
            </a:r>
          </a:p>
          <a:p>
            <a:pPr marL="0" indent="0" algn="just">
              <a:buNone/>
            </a:pPr>
            <a:endParaRPr lang="en-US" sz="3100" dirty="0" smtClean="0">
              <a:latin typeface="Arial (Body)"/>
            </a:endParaRPr>
          </a:p>
          <a:p>
            <a:pPr algn="just"/>
            <a:r>
              <a:rPr lang="en-US" sz="3100" b="1" dirty="0" err="1">
                <a:latin typeface="Arial (Body)"/>
              </a:rPr>
              <a:t>Hiệu</a:t>
            </a:r>
            <a:r>
              <a:rPr lang="en-US" sz="3100" b="1" dirty="0">
                <a:latin typeface="Arial (Body)"/>
              </a:rPr>
              <a:t> </a:t>
            </a:r>
            <a:r>
              <a:rPr lang="en-US" sz="3100" b="1" dirty="0" err="1">
                <a:latin typeface="Arial (Body)"/>
              </a:rPr>
              <a:t>quả</a:t>
            </a:r>
            <a:r>
              <a:rPr lang="en-US" sz="3100" b="1" dirty="0">
                <a:latin typeface="Arial (Body)"/>
              </a:rPr>
              <a:t> </a:t>
            </a:r>
            <a:r>
              <a:rPr lang="en-US" sz="3100" b="1" dirty="0" err="1">
                <a:latin typeface="Arial (Body)"/>
              </a:rPr>
              <a:t>về</a:t>
            </a:r>
            <a:r>
              <a:rPr lang="en-US" sz="3100" b="1" dirty="0">
                <a:latin typeface="Arial (Body)"/>
              </a:rPr>
              <a:t> chi </a:t>
            </a:r>
            <a:r>
              <a:rPr lang="en-US" sz="3100" b="1" dirty="0" err="1">
                <a:latin typeface="Arial (Body)"/>
              </a:rPr>
              <a:t>phí</a:t>
            </a:r>
            <a:r>
              <a:rPr lang="en-US" sz="3100" b="1" dirty="0">
                <a:latin typeface="Arial (Body)"/>
              </a:rPr>
              <a:t>: </a:t>
            </a:r>
            <a:r>
              <a:rPr lang="en-US" sz="3100" dirty="0">
                <a:latin typeface="Arial (Body)"/>
              </a:rPr>
              <a:t>SDLC </a:t>
            </a:r>
            <a:r>
              <a:rPr lang="en-US" sz="3100" dirty="0" err="1">
                <a:latin typeface="Arial (Body)"/>
              </a:rPr>
              <a:t>chứng</a:t>
            </a:r>
            <a:r>
              <a:rPr lang="en-US" sz="3100" dirty="0">
                <a:latin typeface="Arial (Body)"/>
              </a:rPr>
              <a:t> </a:t>
            </a:r>
            <a:r>
              <a:rPr lang="en-US" sz="3100" dirty="0" err="1">
                <a:latin typeface="Arial (Body)"/>
              </a:rPr>
              <a:t>tỏ</a:t>
            </a:r>
            <a:r>
              <a:rPr lang="en-US" sz="3100" dirty="0">
                <a:latin typeface="Arial (Body)"/>
              </a:rPr>
              <a:t> </a:t>
            </a:r>
            <a:r>
              <a:rPr lang="en-US" sz="3100" dirty="0" err="1">
                <a:latin typeface="Arial (Body)"/>
              </a:rPr>
              <a:t>là</a:t>
            </a:r>
            <a:r>
              <a:rPr lang="en-US" sz="3100" dirty="0">
                <a:latin typeface="Arial (Body)"/>
              </a:rPr>
              <a:t> </a:t>
            </a:r>
            <a:r>
              <a:rPr lang="en-US" sz="3100" dirty="0" err="1">
                <a:latin typeface="Arial (Body)"/>
              </a:rPr>
              <a:t>một</a:t>
            </a:r>
            <a:r>
              <a:rPr lang="en-US" sz="3100" dirty="0">
                <a:latin typeface="Arial (Body)"/>
              </a:rPr>
              <a:t> </a:t>
            </a:r>
            <a:r>
              <a:rPr lang="en-US" sz="3100" dirty="0" err="1">
                <a:latin typeface="Arial (Body)"/>
              </a:rPr>
              <a:t>cách</a:t>
            </a:r>
            <a:r>
              <a:rPr lang="en-US" sz="3100" dirty="0">
                <a:latin typeface="Arial (Body)"/>
              </a:rPr>
              <a:t> </a:t>
            </a:r>
            <a:r>
              <a:rPr lang="en-US" sz="3100" dirty="0" err="1">
                <a:latin typeface="Arial (Body)"/>
              </a:rPr>
              <a:t>tiếp</a:t>
            </a:r>
            <a:r>
              <a:rPr lang="en-US" sz="3100" dirty="0">
                <a:latin typeface="Arial (Body)"/>
              </a:rPr>
              <a:t> </a:t>
            </a:r>
            <a:r>
              <a:rPr lang="en-US" sz="3100" dirty="0" err="1">
                <a:latin typeface="Arial (Body)"/>
              </a:rPr>
              <a:t>cận</a:t>
            </a:r>
            <a:r>
              <a:rPr lang="en-US" sz="3100" dirty="0">
                <a:latin typeface="Arial (Body)"/>
              </a:rPr>
              <a:t> </a:t>
            </a:r>
            <a:r>
              <a:rPr lang="en-US" sz="3100" dirty="0" err="1">
                <a:latin typeface="Arial (Body)"/>
              </a:rPr>
              <a:t>hiệu</a:t>
            </a:r>
            <a:r>
              <a:rPr lang="en-US" sz="3100" dirty="0">
                <a:latin typeface="Arial (Body)"/>
              </a:rPr>
              <a:t> </a:t>
            </a:r>
            <a:r>
              <a:rPr lang="en-US" sz="3100" dirty="0" err="1">
                <a:latin typeface="Arial (Body)"/>
              </a:rPr>
              <a:t>quả</a:t>
            </a:r>
            <a:r>
              <a:rPr lang="en-US" sz="3100" dirty="0">
                <a:latin typeface="Arial (Body)"/>
              </a:rPr>
              <a:t> </a:t>
            </a:r>
            <a:r>
              <a:rPr lang="en-US" sz="3100" dirty="0" err="1">
                <a:latin typeface="Arial (Body)"/>
              </a:rPr>
              <a:t>về</a:t>
            </a:r>
            <a:r>
              <a:rPr lang="en-US" sz="3100" dirty="0">
                <a:latin typeface="Arial (Body)"/>
              </a:rPr>
              <a:t> </a:t>
            </a:r>
            <a:r>
              <a:rPr lang="en-US" sz="3100" dirty="0" err="1">
                <a:latin typeface="Arial (Body)"/>
              </a:rPr>
              <a:t>mặt</a:t>
            </a:r>
            <a:r>
              <a:rPr lang="en-US" sz="3100" dirty="0">
                <a:latin typeface="Arial (Body)"/>
              </a:rPr>
              <a:t> chi </a:t>
            </a:r>
            <a:r>
              <a:rPr lang="en-US" sz="3100" dirty="0" err="1">
                <a:latin typeface="Arial (Body)"/>
              </a:rPr>
              <a:t>phí</a:t>
            </a:r>
            <a:r>
              <a:rPr lang="en-US" sz="3100" dirty="0">
                <a:latin typeface="Arial (Body)"/>
              </a:rPr>
              <a:t> </a:t>
            </a:r>
            <a:r>
              <a:rPr lang="en-US" sz="3100" dirty="0" err="1">
                <a:latin typeface="Arial (Body)"/>
              </a:rPr>
              <a:t>bằng</a:t>
            </a:r>
            <a:r>
              <a:rPr lang="en-US" sz="3100" dirty="0">
                <a:latin typeface="Arial (Body)"/>
              </a:rPr>
              <a:t> </a:t>
            </a:r>
            <a:r>
              <a:rPr lang="en-US" sz="3100" dirty="0" err="1">
                <a:latin typeface="Arial (Body)"/>
              </a:rPr>
              <a:t>cách</a:t>
            </a:r>
            <a:r>
              <a:rPr lang="en-US" sz="3100" dirty="0">
                <a:latin typeface="Arial (Body)"/>
              </a:rPr>
              <a:t> </a:t>
            </a:r>
            <a:r>
              <a:rPr lang="en-US" sz="3100" dirty="0" err="1">
                <a:latin typeface="Arial (Body)"/>
              </a:rPr>
              <a:t>xác</a:t>
            </a:r>
            <a:r>
              <a:rPr lang="en-US" sz="3100" dirty="0">
                <a:latin typeface="Arial (Body)"/>
              </a:rPr>
              <a:t> </a:t>
            </a:r>
            <a:r>
              <a:rPr lang="en-US" sz="3100" dirty="0" err="1">
                <a:latin typeface="Arial (Body)"/>
              </a:rPr>
              <a:t>định</a:t>
            </a:r>
            <a:r>
              <a:rPr lang="en-US" sz="3100" dirty="0">
                <a:latin typeface="Arial (Body)"/>
              </a:rPr>
              <a:t> </a:t>
            </a:r>
            <a:r>
              <a:rPr lang="en-US" sz="3100" dirty="0" err="1">
                <a:latin typeface="Arial (Body)"/>
              </a:rPr>
              <a:t>sớm</a:t>
            </a:r>
            <a:r>
              <a:rPr lang="en-US" sz="3100" dirty="0">
                <a:latin typeface="Arial (Body)"/>
              </a:rPr>
              <a:t> </a:t>
            </a:r>
            <a:r>
              <a:rPr lang="en-US" sz="3100" dirty="0" err="1">
                <a:latin typeface="Arial (Body)"/>
              </a:rPr>
              <a:t>các</a:t>
            </a:r>
            <a:r>
              <a:rPr lang="en-US" sz="3100" dirty="0">
                <a:latin typeface="Arial (Body)"/>
              </a:rPr>
              <a:t> </a:t>
            </a:r>
            <a:r>
              <a:rPr lang="en-US" sz="3100" dirty="0" err="1">
                <a:latin typeface="Arial (Body)"/>
              </a:rPr>
              <a:t>vấn</a:t>
            </a:r>
            <a:r>
              <a:rPr lang="en-US" sz="3100" dirty="0">
                <a:latin typeface="Arial (Body)"/>
              </a:rPr>
              <a:t> </a:t>
            </a:r>
            <a:r>
              <a:rPr lang="en-US" sz="3100" dirty="0" err="1">
                <a:latin typeface="Arial (Body)"/>
              </a:rPr>
              <a:t>đề</a:t>
            </a:r>
            <a:r>
              <a:rPr lang="en-US" sz="3100" dirty="0">
                <a:latin typeface="Arial (Body)"/>
              </a:rPr>
              <a:t> </a:t>
            </a:r>
            <a:r>
              <a:rPr lang="en-US" sz="3100" dirty="0" err="1">
                <a:latin typeface="Arial (Body)"/>
              </a:rPr>
              <a:t>tiềm</a:t>
            </a:r>
            <a:r>
              <a:rPr lang="en-US" sz="3100" dirty="0">
                <a:latin typeface="Arial (Body)"/>
              </a:rPr>
              <a:t> </a:t>
            </a:r>
            <a:r>
              <a:rPr lang="en-US" sz="3100" dirty="0" err="1">
                <a:latin typeface="Arial (Body)"/>
              </a:rPr>
              <a:t>ẩn</a:t>
            </a:r>
            <a:r>
              <a:rPr lang="en-US" sz="3100" dirty="0">
                <a:latin typeface="Arial (Body)"/>
              </a:rPr>
              <a:t> </a:t>
            </a:r>
            <a:r>
              <a:rPr lang="en-US" sz="3100" dirty="0" err="1">
                <a:latin typeface="Arial (Body)"/>
              </a:rPr>
              <a:t>trong</a:t>
            </a:r>
            <a:r>
              <a:rPr lang="en-US" sz="3100" dirty="0">
                <a:latin typeface="Arial (Body)"/>
              </a:rPr>
              <a:t> </a:t>
            </a:r>
            <a:r>
              <a:rPr lang="en-US" sz="3100" dirty="0" err="1">
                <a:latin typeface="Arial (Body)"/>
              </a:rPr>
              <a:t>quá</a:t>
            </a:r>
            <a:r>
              <a:rPr lang="en-US" sz="3100" dirty="0">
                <a:latin typeface="Arial (Body)"/>
              </a:rPr>
              <a:t> </a:t>
            </a:r>
            <a:r>
              <a:rPr lang="en-US" sz="3100" dirty="0" err="1">
                <a:latin typeface="Arial (Body)"/>
              </a:rPr>
              <a:t>trình</a:t>
            </a:r>
            <a:r>
              <a:rPr lang="en-US" sz="3100" dirty="0">
                <a:latin typeface="Arial (Body)"/>
              </a:rPr>
              <a:t> </a:t>
            </a:r>
            <a:r>
              <a:rPr lang="en-US" sz="3100" dirty="0" err="1">
                <a:latin typeface="Arial (Body)"/>
              </a:rPr>
              <a:t>phát</a:t>
            </a:r>
            <a:r>
              <a:rPr lang="en-US" sz="3100" dirty="0">
                <a:latin typeface="Arial (Body)"/>
              </a:rPr>
              <a:t> </a:t>
            </a:r>
            <a:r>
              <a:rPr lang="en-US" sz="3100" dirty="0" err="1" smtClean="0">
                <a:latin typeface="Arial (Body)"/>
              </a:rPr>
              <a:t>triển</a:t>
            </a:r>
            <a:r>
              <a:rPr lang="en-US" sz="3100" dirty="0" smtClean="0">
                <a:latin typeface="Arial (Body)"/>
              </a:rPr>
              <a:t>.</a:t>
            </a:r>
            <a:endParaRPr lang="en-US" sz="3100" dirty="0">
              <a:latin typeface="Arial (Body)"/>
            </a:endParaRPr>
          </a:p>
        </p:txBody>
      </p:sp>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13</a:t>
            </a:fld>
            <a:endParaRPr lang="en-US" dirty="0"/>
          </a:p>
        </p:txBody>
      </p:sp>
      <p:pic>
        <p:nvPicPr>
          <p:cNvPr id="9" name="Picture 6" descr="j0344843"/>
          <p:cNvPicPr>
            <a:picLocks noChangeAspect="1" noChangeArrowheads="1"/>
          </p:cNvPicPr>
          <p:nvPr/>
        </p:nvPicPr>
        <p:blipFill>
          <a:blip r:embed="rId2" cstate="print"/>
          <a:srcRect/>
          <a:stretch>
            <a:fillRect/>
          </a:stretch>
        </p:blipFill>
        <p:spPr bwMode="auto">
          <a:xfrm>
            <a:off x="7443216" y="0"/>
            <a:ext cx="1700784" cy="1371600"/>
          </a:xfrm>
          <a:prstGeom prst="rect">
            <a:avLst/>
          </a:prstGeom>
          <a:noFill/>
          <a:ln w="3175">
            <a:noFill/>
            <a:miter lim="800000"/>
            <a:headEnd/>
            <a:tailEnd/>
          </a:ln>
        </p:spPr>
      </p:pic>
    </p:spTree>
    <p:extLst>
      <p:ext uri="{BB962C8B-B14F-4D97-AF65-F5344CB8AC3E}">
        <p14:creationId xmlns:p14="http://schemas.microsoft.com/office/powerpoint/2010/main" val="34833529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ahoma (Headings)"/>
              </a:rPr>
              <a:t>GỢI Ý</a:t>
            </a:r>
            <a:endParaRPr lang="en-US" dirty="0">
              <a:latin typeface="Tahoma (Headings)"/>
            </a:endParaRPr>
          </a:p>
        </p:txBody>
      </p:sp>
      <p:sp>
        <p:nvSpPr>
          <p:cNvPr id="3" name="Subtitle 2"/>
          <p:cNvSpPr>
            <a:spLocks noGrp="1"/>
          </p:cNvSpPr>
          <p:nvPr>
            <p:ph type="subTitle" idx="1"/>
          </p:nvPr>
        </p:nvSpPr>
        <p:spPr>
          <a:xfrm>
            <a:off x="685800" y="3886200"/>
            <a:ext cx="7848600" cy="1752600"/>
          </a:xfrm>
        </p:spPr>
        <p:txBody>
          <a:bodyPr/>
          <a:lstStyle/>
          <a:p>
            <a:r>
              <a:rPr lang="en-US" dirty="0" err="1" smtClean="0"/>
              <a:t>Các</a:t>
            </a:r>
            <a:r>
              <a:rPr lang="en-US" dirty="0" smtClean="0"/>
              <a:t> </a:t>
            </a:r>
            <a:r>
              <a:rPr lang="en-US" dirty="0" err="1" smtClean="0"/>
              <a:t>bước</a:t>
            </a:r>
            <a:r>
              <a:rPr lang="en-US" dirty="0" smtClean="0"/>
              <a:t> </a:t>
            </a:r>
            <a:r>
              <a:rPr lang="en-US" dirty="0" err="1" smtClean="0"/>
              <a:t>cần</a:t>
            </a:r>
            <a:r>
              <a:rPr lang="en-US" dirty="0" smtClean="0"/>
              <a:t> </a:t>
            </a:r>
            <a:r>
              <a:rPr lang="en-US" dirty="0" err="1" smtClean="0"/>
              <a:t>thực</a:t>
            </a:r>
            <a:r>
              <a:rPr lang="en-US" dirty="0" smtClean="0"/>
              <a:t> </a:t>
            </a:r>
            <a:r>
              <a:rPr lang="en-US" dirty="0" err="1" smtClean="0"/>
              <a:t>hiện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Chuẩn</a:t>
            </a:r>
            <a:r>
              <a:rPr lang="en-US" dirty="0" smtClean="0"/>
              <a:t> </a:t>
            </a:r>
            <a:r>
              <a:rPr lang="en-US" dirty="0" err="1" smtClean="0"/>
              <a:t>bị</a:t>
            </a:r>
            <a:r>
              <a:rPr lang="en-US" dirty="0" smtClean="0"/>
              <a:t> </a:t>
            </a:r>
            <a:r>
              <a:rPr lang="en-US" dirty="0" err="1" smtClean="0"/>
              <a:t>cho</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smtClean="0"/>
              <a:t>Input:</a:t>
            </a:r>
            <a:endParaRPr lang="en-US" dirty="0" smtClean="0"/>
          </a:p>
          <a:p>
            <a:pPr marL="0" indent="0" algn="just">
              <a:buNone/>
            </a:pPr>
            <a:r>
              <a:rPr lang="en-US" sz="2400" dirty="0" smtClean="0">
                <a:sym typeface="Wingdings" panose="05000000000000000000" pitchFamily="2" charset="2"/>
              </a:rPr>
              <a:t>	</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Tài</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liệu</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đặc</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tả</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yêu</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cầu</a:t>
            </a:r>
            <a:r>
              <a:rPr lang="en-US" sz="2400" i="1" dirty="0" smtClean="0">
                <a:solidFill>
                  <a:srgbClr val="0000FF"/>
                </a:solidFill>
                <a:sym typeface="Wingdings" panose="05000000000000000000" pitchFamily="2" charset="2"/>
              </a:rPr>
              <a:t>:</a:t>
            </a:r>
          </a:p>
          <a:p>
            <a:pPr marL="0" indent="0" algn="just">
              <a:buNone/>
            </a:pPr>
            <a:r>
              <a:rPr lang="en-US" sz="1800" i="1" dirty="0">
                <a:solidFill>
                  <a:srgbClr val="0000FF"/>
                </a:solidFill>
                <a:sym typeface="Wingdings" panose="05000000000000000000" pitchFamily="2" charset="2"/>
              </a:rPr>
              <a:t>	</a:t>
            </a:r>
            <a:r>
              <a:rPr lang="en-US" sz="1800" i="1" dirty="0" smtClean="0">
                <a:solidFill>
                  <a:srgbClr val="0000FF"/>
                </a:solidFill>
                <a:sym typeface="Wingdings" panose="05000000000000000000" pitchFamily="2" charset="2"/>
                <a:hlinkClick r:id="rId2" action="ppaction://hlinkfile"/>
              </a:rPr>
              <a:t>Template - </a:t>
            </a:r>
            <a:r>
              <a:rPr lang="en-US" sz="1800" i="1" dirty="0" err="1" smtClean="0">
                <a:solidFill>
                  <a:srgbClr val="0000FF"/>
                </a:solidFill>
                <a:sym typeface="Wingdings" panose="05000000000000000000" pitchFamily="2" charset="2"/>
                <a:hlinkClick r:id="rId2" action="ppaction://hlinkfile"/>
              </a:rPr>
              <a:t>Tài</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liệu</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đặc</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tả</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yêu</a:t>
            </a:r>
            <a:r>
              <a:rPr lang="en-US" sz="1800" i="1" dirty="0" smtClean="0">
                <a:solidFill>
                  <a:srgbClr val="0000FF"/>
                </a:solidFill>
                <a:sym typeface="Wingdings" panose="05000000000000000000" pitchFamily="2" charset="2"/>
                <a:hlinkClick r:id="rId2" action="ppaction://hlinkfile"/>
              </a:rPr>
              <a:t> cầu-01.docx</a:t>
            </a:r>
            <a:endParaRPr lang="en-US" sz="1800" i="1" dirty="0" smtClean="0">
              <a:solidFill>
                <a:srgbClr val="0000FF"/>
              </a:solidFill>
              <a:sym typeface="Wingdings" panose="05000000000000000000" pitchFamily="2" charset="2"/>
            </a:endParaRPr>
          </a:p>
          <a:p>
            <a:pPr marL="0" indent="0" algn="just">
              <a:buNone/>
            </a:pPr>
            <a:r>
              <a:rPr lang="en-US" sz="1800" i="1" dirty="0">
                <a:solidFill>
                  <a:srgbClr val="0000FF"/>
                </a:solidFill>
                <a:sym typeface="Wingdings" panose="05000000000000000000" pitchFamily="2" charset="2"/>
              </a:rPr>
              <a:t>	</a:t>
            </a:r>
            <a:r>
              <a:rPr lang="en-US" sz="1800" i="1" dirty="0" smtClean="0">
                <a:solidFill>
                  <a:srgbClr val="0000FF"/>
                </a:solidFill>
                <a:sym typeface="Wingdings" panose="05000000000000000000" pitchFamily="2" charset="2"/>
                <a:hlinkClick r:id="rId3" action="ppaction://hlinkfile"/>
              </a:rPr>
              <a:t>Example - </a:t>
            </a:r>
            <a:r>
              <a:rPr lang="en-US" sz="1800" i="1" dirty="0" err="1" smtClean="0">
                <a:solidFill>
                  <a:srgbClr val="0000FF"/>
                </a:solidFill>
                <a:sym typeface="Wingdings" panose="05000000000000000000" pitchFamily="2" charset="2"/>
                <a:hlinkClick r:id="rId3" action="ppaction://hlinkfile"/>
              </a:rPr>
              <a:t>Tài</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liệu</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đặc</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tả</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yêu</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cầu</a:t>
            </a:r>
            <a:r>
              <a:rPr lang="en-US" sz="1800" i="1" dirty="0" smtClean="0">
                <a:solidFill>
                  <a:srgbClr val="0000FF"/>
                </a:solidFill>
                <a:sym typeface="Wingdings" panose="05000000000000000000" pitchFamily="2" charset="2"/>
                <a:hlinkClick r:id="rId3" action="ppaction://hlinkfile"/>
              </a:rPr>
              <a:t> - 01.docx</a:t>
            </a:r>
            <a:endParaRPr lang="en-US" sz="1800" i="1" dirty="0" smtClean="0">
              <a:solidFill>
                <a:srgbClr val="0000FF"/>
              </a:solidFill>
            </a:endParaRPr>
          </a:p>
          <a:p>
            <a:pPr algn="just"/>
            <a:r>
              <a:rPr lang="en-US" dirty="0" smtClean="0"/>
              <a:t>Output: </a:t>
            </a:r>
            <a:endParaRPr lang="en-US" dirty="0">
              <a:latin typeface="Calibri" pitchFamily="34" charset="0"/>
              <a:cs typeface="Calibri" pitchFamily="34" charset="0"/>
            </a:endParaRPr>
          </a:p>
          <a:p>
            <a:pPr marL="0" indent="0" algn="just">
              <a:buNone/>
            </a:pPr>
            <a:r>
              <a:rPr lang="en-US" sz="2400" i="1" dirty="0" smtClean="0">
                <a:solidFill>
                  <a:srgbClr val="0000FF"/>
                </a:solidFill>
                <a:latin typeface="Calibri" pitchFamily="34" charset="0"/>
                <a:cs typeface="Calibri" pitchFamily="34" charset="0"/>
                <a:sym typeface="Wingdings" pitchFamily="2" charset="2"/>
              </a:rPr>
              <a:t>		</a:t>
            </a:r>
            <a:r>
              <a:rPr lang="en-US" sz="2400" i="1" dirty="0" err="1" smtClean="0">
                <a:solidFill>
                  <a:srgbClr val="0000FF"/>
                </a:solidFill>
                <a:sym typeface="Wingdings" pitchFamily="2" charset="2"/>
              </a:rPr>
              <a:t>Kế</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hoạch</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quản</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lý</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dự</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án</a:t>
            </a:r>
            <a:r>
              <a:rPr lang="en-US" sz="2400" i="1" dirty="0" smtClean="0">
                <a:solidFill>
                  <a:srgbClr val="0000FF"/>
                </a:solidFill>
                <a:sym typeface="Wingdings" pitchFamily="2" charset="2"/>
              </a:rPr>
              <a:t>:</a:t>
            </a:r>
            <a:endParaRPr lang="en-US" sz="2400" i="1" dirty="0" smtClean="0">
              <a:solidFill>
                <a:srgbClr val="0000FF"/>
              </a:solidFill>
              <a:sym typeface="Wingdings" pitchFamily="2" charset="2"/>
            </a:endParaRPr>
          </a:p>
          <a:p>
            <a:pPr marL="0" indent="0" algn="just">
              <a:buNone/>
            </a:pPr>
            <a:r>
              <a:rPr lang="en-US" sz="1800" i="1" dirty="0">
                <a:solidFill>
                  <a:srgbClr val="0000FF"/>
                </a:solidFill>
                <a:latin typeface="Calibri" pitchFamily="34" charset="0"/>
                <a:cs typeface="Calibri" pitchFamily="34" charset="0"/>
                <a:sym typeface="Wingdings" pitchFamily="2" charset="2"/>
              </a:rPr>
              <a:t>	</a:t>
            </a:r>
            <a:r>
              <a:rPr lang="en-US" sz="1800" i="1" dirty="0" smtClean="0">
                <a:solidFill>
                  <a:srgbClr val="0000FF"/>
                </a:solidFill>
                <a:latin typeface="Calibri" pitchFamily="34" charset="0"/>
                <a:cs typeface="Calibri" pitchFamily="34" charset="0"/>
                <a:sym typeface="Wingdings" pitchFamily="2" charset="2"/>
                <a:hlinkClick r:id="rId4" action="ppaction://hlinkfile"/>
              </a:rPr>
              <a:t>Template - Project Management Plan.docx</a:t>
            </a:r>
            <a:endParaRPr lang="en-US" sz="1800" i="1" dirty="0" smtClean="0">
              <a:solidFill>
                <a:srgbClr val="0000FF"/>
              </a:solidFill>
              <a:latin typeface="Calibri" pitchFamily="34" charset="0"/>
              <a:cs typeface="Calibri" pitchFamily="34" charset="0"/>
              <a:sym typeface="Wingdings" pitchFamily="2" charset="2"/>
            </a:endParaRPr>
          </a:p>
          <a:p>
            <a:pPr marL="0" indent="0" algn="just">
              <a:buNone/>
            </a:pPr>
            <a:r>
              <a:rPr lang="en-US" sz="1800" i="1" dirty="0">
                <a:solidFill>
                  <a:srgbClr val="0000FF"/>
                </a:solidFill>
                <a:latin typeface="Calibri" pitchFamily="34" charset="0"/>
                <a:cs typeface="Calibri" pitchFamily="34" charset="0"/>
                <a:sym typeface="Wingdings" pitchFamily="2" charset="2"/>
              </a:rPr>
              <a:t>	</a:t>
            </a:r>
            <a:r>
              <a:rPr lang="en-US" sz="2400" b="1" i="1" dirty="0">
                <a:solidFill>
                  <a:srgbClr val="0000FF"/>
                </a:solidFill>
                <a:sym typeface="Wingdings" pitchFamily="2" charset="2"/>
              </a:rPr>
              <a:t>	</a:t>
            </a:r>
            <a:r>
              <a:rPr lang="en-US" sz="2400" i="1" dirty="0" err="1">
                <a:solidFill>
                  <a:srgbClr val="0000FF"/>
                </a:solidFill>
                <a:sym typeface="Wingdings" pitchFamily="2" charset="2"/>
              </a:rPr>
              <a:t>Kế</a:t>
            </a:r>
            <a:r>
              <a:rPr lang="en-US" sz="2400" i="1" dirty="0">
                <a:solidFill>
                  <a:srgbClr val="0000FF"/>
                </a:solidFill>
                <a:sym typeface="Wingdings" pitchFamily="2" charset="2"/>
              </a:rPr>
              <a:t> </a:t>
            </a:r>
            <a:r>
              <a:rPr lang="en-US" sz="2400" i="1" dirty="0" err="1">
                <a:solidFill>
                  <a:srgbClr val="0000FF"/>
                </a:solidFill>
                <a:sym typeface="Wingdings" pitchFamily="2" charset="2"/>
              </a:rPr>
              <a:t>hoạch</a:t>
            </a:r>
            <a:r>
              <a:rPr lang="en-US" sz="2400" i="1" dirty="0">
                <a:solidFill>
                  <a:srgbClr val="0000FF"/>
                </a:solidFill>
                <a:sym typeface="Wingdings" pitchFamily="2" charset="2"/>
              </a:rPr>
              <a:t> </a:t>
            </a:r>
            <a:r>
              <a:rPr lang="en-US" sz="2400" i="1" dirty="0" err="1" smtClean="0">
                <a:solidFill>
                  <a:srgbClr val="0000FF"/>
                </a:solidFill>
                <a:sym typeface="Wingdings" pitchFamily="2" charset="2"/>
              </a:rPr>
              <a:t>kiểm</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thử</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phần</a:t>
            </a:r>
            <a:r>
              <a:rPr lang="en-US" sz="2400" i="1" dirty="0" smtClean="0">
                <a:solidFill>
                  <a:srgbClr val="0000FF"/>
                </a:solidFill>
                <a:sym typeface="Wingdings" pitchFamily="2" charset="2"/>
              </a:rPr>
              <a:t> </a:t>
            </a:r>
            <a:r>
              <a:rPr lang="en-US" sz="2400" i="1" dirty="0" err="1" smtClean="0">
                <a:solidFill>
                  <a:srgbClr val="0000FF"/>
                </a:solidFill>
                <a:sym typeface="Wingdings" pitchFamily="2" charset="2"/>
              </a:rPr>
              <a:t>mềm</a:t>
            </a:r>
            <a:r>
              <a:rPr lang="en-US" sz="2400" i="1" dirty="0" smtClean="0">
                <a:solidFill>
                  <a:srgbClr val="0000FF"/>
                </a:solidFill>
                <a:sym typeface="Wingdings" pitchFamily="2" charset="2"/>
              </a:rPr>
              <a:t>:</a:t>
            </a:r>
            <a:endParaRPr lang="en-US" sz="2400" i="1" dirty="0">
              <a:solidFill>
                <a:srgbClr val="0000FF"/>
              </a:solidFill>
              <a:sym typeface="Wingdings" pitchFamily="2" charset="2"/>
            </a:endParaRPr>
          </a:p>
          <a:p>
            <a:pPr marL="0" indent="0" algn="just">
              <a:buNone/>
            </a:pPr>
            <a:r>
              <a:rPr lang="en-US" sz="1800" i="1" dirty="0">
                <a:solidFill>
                  <a:srgbClr val="0000FF"/>
                </a:solidFill>
                <a:latin typeface="Calibri" pitchFamily="34" charset="0"/>
                <a:cs typeface="Calibri" pitchFamily="34" charset="0"/>
                <a:sym typeface="Wingdings" pitchFamily="2" charset="2"/>
              </a:rPr>
              <a:t>	</a:t>
            </a:r>
            <a:r>
              <a:rPr lang="en-US" sz="1800" i="1" dirty="0" smtClean="0">
                <a:solidFill>
                  <a:srgbClr val="0000FF"/>
                </a:solidFill>
                <a:latin typeface="Calibri" pitchFamily="34" charset="0"/>
                <a:cs typeface="Calibri" pitchFamily="34" charset="0"/>
                <a:sym typeface="Wingdings" pitchFamily="2" charset="2"/>
                <a:hlinkClick r:id="rId5" action="ppaction://hlinkfile"/>
              </a:rPr>
              <a:t>Template - Test Plan.docx</a:t>
            </a:r>
            <a:endParaRPr lang="en-US" sz="1800" i="1" dirty="0" smtClean="0">
              <a:solidFill>
                <a:srgbClr val="0000FF"/>
              </a:solidFill>
              <a:latin typeface="Calibri" pitchFamily="34" charset="0"/>
              <a:cs typeface="Calibri" pitchFamily="34" charset="0"/>
              <a:sym typeface="Wingdings" pitchFamily="2" charset="2"/>
            </a:endParaRPr>
          </a:p>
          <a:p>
            <a:pPr marL="0" indent="0" algn="just">
              <a:buNone/>
            </a:pPr>
            <a:endParaRPr lang="en-US" sz="1800" i="1" dirty="0" smtClean="0">
              <a:solidFill>
                <a:srgbClr val="0000FF"/>
              </a:solidFill>
              <a:latin typeface="Calibri" pitchFamily="34" charset="0"/>
              <a:cs typeface="Calibri" pitchFamily="34" charset="0"/>
            </a:endParaRPr>
          </a:p>
        </p:txBody>
      </p:sp>
      <p:pic>
        <p:nvPicPr>
          <p:cNvPr id="4" name="Picture 5"/>
          <p:cNvPicPr>
            <a:picLocks noChangeAspect="1" noChangeArrowheads="1"/>
          </p:cNvPicPr>
          <p:nvPr/>
        </p:nvPicPr>
        <p:blipFill>
          <a:blip r:embed="rId6"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15</a:t>
            </a:fld>
            <a:endParaRPr lang="en-US" dirty="0"/>
          </a:p>
        </p:txBody>
      </p:sp>
    </p:spTree>
    <p:extLst>
      <p:ext uri="{BB962C8B-B14F-4D97-AF65-F5344CB8AC3E}">
        <p14:creationId xmlns:p14="http://schemas.microsoft.com/office/powerpoint/2010/main" val="2672001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Chuẩn</a:t>
            </a:r>
            <a:r>
              <a:rPr lang="en-US" dirty="0" smtClean="0"/>
              <a:t> </a:t>
            </a:r>
            <a:r>
              <a:rPr lang="en-US" dirty="0" err="1" smtClean="0"/>
              <a:t>bị</a:t>
            </a:r>
            <a:r>
              <a:rPr lang="en-US" dirty="0" smtClean="0"/>
              <a:t> </a:t>
            </a:r>
            <a:r>
              <a:rPr lang="en-US" dirty="0" err="1" smtClean="0"/>
              <a:t>cho</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err="1" smtClean="0"/>
              <a:t>Chuẩn</a:t>
            </a:r>
            <a:r>
              <a:rPr lang="en-US" dirty="0" smtClean="0"/>
              <a:t> </a:t>
            </a:r>
            <a:r>
              <a:rPr lang="en-US" dirty="0" err="1" smtClean="0"/>
              <a:t>bị</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triển</a:t>
            </a:r>
            <a:r>
              <a:rPr lang="en-US" dirty="0" smtClean="0"/>
              <a:t> </a:t>
            </a:r>
            <a:r>
              <a:rPr lang="en-US" dirty="0" err="1" smtClean="0"/>
              <a:t>khai</a:t>
            </a:r>
            <a:endParaRPr lang="en-US" dirty="0"/>
          </a:p>
          <a:p>
            <a:pPr lvl="1" algn="just"/>
            <a:r>
              <a:rPr lang="en-US" dirty="0" err="1" smtClean="0"/>
              <a:t>Định</a:t>
            </a:r>
            <a:r>
              <a:rPr lang="en-US" dirty="0" smtClean="0"/>
              <a:t> </a:t>
            </a:r>
            <a:r>
              <a:rPr lang="en-US" dirty="0" err="1" smtClean="0"/>
              <a:t>danh</a:t>
            </a:r>
            <a:r>
              <a:rPr lang="en-US" dirty="0" smtClean="0"/>
              <a:t> chi </a:t>
            </a:r>
            <a:r>
              <a:rPr lang="en-US" dirty="0" err="1" smtClean="0"/>
              <a:t>tiết</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smtClean="0"/>
              <a:t> </a:t>
            </a:r>
            <a:r>
              <a:rPr lang="en-US" dirty="0" err="1" smtClean="0"/>
              <a:t>bao</a:t>
            </a:r>
            <a:r>
              <a:rPr lang="en-US" dirty="0" smtClean="0"/>
              <a:t> </a:t>
            </a:r>
            <a:r>
              <a:rPr lang="en-US" dirty="0" err="1" smtClean="0"/>
              <a:t>gồm</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phát</a:t>
            </a:r>
            <a:r>
              <a:rPr lang="en-US" dirty="0" smtClean="0"/>
              <a:t> </a:t>
            </a:r>
            <a:r>
              <a:rPr lang="en-US" dirty="0" err="1" smtClean="0"/>
              <a:t>triển</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kiểm</a:t>
            </a:r>
            <a:r>
              <a:rPr lang="en-US" dirty="0" smtClean="0"/>
              <a:t> </a:t>
            </a:r>
            <a:r>
              <a:rPr lang="en-US" dirty="0" err="1" smtClean="0"/>
              <a:t>thử</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sản</a:t>
            </a:r>
            <a:r>
              <a:rPr lang="en-US" dirty="0" smtClean="0"/>
              <a:t> </a:t>
            </a:r>
            <a:r>
              <a:rPr lang="en-US" dirty="0" err="1" smtClean="0"/>
              <a:t>phẩm</a:t>
            </a:r>
            <a:r>
              <a:rPr lang="en-US" dirty="0"/>
              <a:t> </a:t>
            </a:r>
            <a:r>
              <a:rPr lang="en-US" dirty="0" err="1" smtClean="0"/>
              <a:t>cũng</a:t>
            </a:r>
            <a:r>
              <a:rPr lang="en-US" dirty="0" smtClean="0"/>
              <a:t> </a:t>
            </a:r>
            <a:r>
              <a:rPr lang="en-US" dirty="0" err="1" smtClean="0"/>
              <a:t>như</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dự</a:t>
            </a:r>
            <a:r>
              <a:rPr lang="en-US" dirty="0" smtClean="0"/>
              <a:t> </a:t>
            </a:r>
            <a:r>
              <a:rPr lang="en-US" dirty="0" err="1" smtClean="0"/>
              <a:t>án</a:t>
            </a:r>
            <a:r>
              <a:rPr lang="en-US" dirty="0" smtClean="0"/>
              <a:t>.</a:t>
            </a:r>
          </a:p>
          <a:p>
            <a:pPr lvl="1" algn="just"/>
            <a:r>
              <a:rPr lang="en-US" dirty="0" err="1" smtClean="0"/>
              <a:t>Chuẩn</a:t>
            </a:r>
            <a:r>
              <a:rPr lang="en-US" dirty="0" smtClean="0"/>
              <a:t> </a:t>
            </a:r>
            <a:r>
              <a:rPr lang="en-US" dirty="0" err="1" smtClean="0"/>
              <a:t>bị</a:t>
            </a:r>
            <a:r>
              <a:rPr lang="en-US" dirty="0" smtClean="0"/>
              <a:t> </a:t>
            </a:r>
            <a:r>
              <a:rPr lang="en-US" dirty="0" err="1" smtClean="0"/>
              <a:t>môi</a:t>
            </a:r>
            <a:r>
              <a:rPr lang="en-US" dirty="0" smtClean="0"/>
              <a:t> </a:t>
            </a:r>
            <a:r>
              <a:rPr lang="en-US" dirty="0" err="1" smtClean="0"/>
              <a:t>trường</a:t>
            </a:r>
            <a:r>
              <a:rPr lang="en-US" dirty="0" smtClean="0"/>
              <a:t> </a:t>
            </a:r>
            <a:r>
              <a:rPr lang="en-US" dirty="0" err="1" smtClean="0"/>
              <a:t>cho</a:t>
            </a:r>
            <a:r>
              <a:rPr lang="en-US" dirty="0" smtClean="0"/>
              <a:t> </a:t>
            </a:r>
            <a:r>
              <a:rPr lang="en-US" dirty="0" err="1" smtClean="0"/>
              <a:t>phép</a:t>
            </a:r>
            <a:r>
              <a:rPr lang="en-US" dirty="0" smtClean="0"/>
              <a:t> </a:t>
            </a:r>
            <a:r>
              <a:rPr lang="en-US" dirty="0" err="1" smtClean="0"/>
              <a:t>các</a:t>
            </a:r>
            <a:r>
              <a:rPr lang="en-US" dirty="0" smtClean="0"/>
              <a:t> </a:t>
            </a:r>
            <a:r>
              <a:rPr lang="en-US" dirty="0" err="1" smtClean="0"/>
              <a:t>thành</a:t>
            </a:r>
            <a:r>
              <a:rPr lang="en-US" dirty="0" smtClean="0"/>
              <a:t> </a:t>
            </a:r>
            <a:r>
              <a:rPr lang="en-US" dirty="0" err="1" smtClean="0"/>
              <a:t>viên</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tham</a:t>
            </a:r>
            <a:r>
              <a:rPr lang="en-US" dirty="0" smtClean="0"/>
              <a:t> </a:t>
            </a:r>
            <a:r>
              <a:rPr lang="en-US" dirty="0" err="1" smtClean="0"/>
              <a:t>gia</a:t>
            </a:r>
            <a:r>
              <a:rPr lang="en-US" dirty="0" smtClean="0"/>
              <a:t> </a:t>
            </a:r>
            <a:r>
              <a:rPr lang="en-US" dirty="0" err="1" smtClean="0"/>
              <a:t>vào</a:t>
            </a:r>
            <a:r>
              <a:rPr lang="en-US" dirty="0" smtClean="0"/>
              <a:t> </a:t>
            </a:r>
            <a:r>
              <a:rPr lang="en-US" dirty="0" err="1" smtClean="0"/>
              <a:t>dự</a:t>
            </a:r>
            <a:r>
              <a:rPr lang="en-US" dirty="0" smtClean="0"/>
              <a:t> </a:t>
            </a:r>
            <a:r>
              <a:rPr lang="en-US" dirty="0" err="1" smtClean="0"/>
              <a:t>án</a:t>
            </a:r>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16</a:t>
            </a:fld>
            <a:endParaRPr lang="en-US" dirty="0"/>
          </a:p>
        </p:txBody>
      </p:sp>
    </p:spTree>
    <p:extLst>
      <p:ext uri="{BB962C8B-B14F-4D97-AF65-F5344CB8AC3E}">
        <p14:creationId xmlns:p14="http://schemas.microsoft.com/office/powerpoint/2010/main" val="10929805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Chuẩn</a:t>
            </a:r>
            <a:r>
              <a:rPr lang="en-US" dirty="0" smtClean="0"/>
              <a:t> </a:t>
            </a:r>
            <a:r>
              <a:rPr lang="en-US" dirty="0" err="1" smtClean="0"/>
              <a:t>bị</a:t>
            </a:r>
            <a:r>
              <a:rPr lang="en-US" dirty="0" smtClean="0"/>
              <a:t> </a:t>
            </a:r>
            <a:r>
              <a:rPr lang="en-US" dirty="0" err="1" smtClean="0"/>
              <a:t>cho</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marL="457200" lvl="1" indent="0" algn="just">
              <a:buNone/>
            </a:pPr>
            <a:r>
              <a:rPr lang="en-US" sz="2400" i="1" dirty="0" err="1" smtClean="0">
                <a:solidFill>
                  <a:srgbClr val="0000FF"/>
                </a:solidFill>
                <a:latin typeface="Calibri" pitchFamily="34" charset="0"/>
                <a:cs typeface="Calibri" pitchFamily="34" charset="0"/>
                <a:sym typeface="Wingdings" pitchFamily="2" charset="2"/>
              </a:rPr>
              <a:t>Ví</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dụ</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trong</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việc</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triển</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khai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dự</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án</a:t>
            </a:r>
            <a:r>
              <a:rPr lang="en-US" sz="2400" i="1" dirty="0" smtClean="0">
                <a:solidFill>
                  <a:srgbClr val="0000FF"/>
                </a:solidFill>
                <a:latin typeface="Calibri" pitchFamily="34" charset="0"/>
                <a:cs typeface="Calibri" pitchFamily="34" charset="0"/>
                <a:sym typeface="Wingdings" pitchFamily="2" charset="2"/>
              </a:rPr>
              <a:t> Web </a:t>
            </a:r>
            <a:r>
              <a:rPr lang="en-US" sz="2400" i="1" dirty="0" err="1" smtClean="0">
                <a:solidFill>
                  <a:srgbClr val="0000FF"/>
                </a:solidFill>
                <a:latin typeface="Calibri" pitchFamily="34" charset="0"/>
                <a:cs typeface="Calibri" pitchFamily="34" charset="0"/>
                <a:sym typeface="Wingdings" pitchFamily="2" charset="2"/>
              </a:rPr>
              <a:t>trên</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công</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nghệ</a:t>
            </a:r>
            <a:r>
              <a:rPr lang="en-US" sz="2400" i="1" dirty="0" smtClean="0">
                <a:solidFill>
                  <a:srgbClr val="0000FF"/>
                </a:solidFill>
                <a:latin typeface="Calibri" pitchFamily="34" charset="0"/>
                <a:cs typeface="Calibri" pitchFamily="34" charset="0"/>
                <a:sym typeface="Wingdings" pitchFamily="2" charset="2"/>
              </a:rPr>
              <a:t> Java </a:t>
            </a:r>
            <a:r>
              <a:rPr lang="en-US" sz="2400" i="1" dirty="0" err="1" smtClean="0">
                <a:solidFill>
                  <a:srgbClr val="0000FF"/>
                </a:solidFill>
                <a:latin typeface="Calibri" pitchFamily="34" charset="0"/>
                <a:cs typeface="Calibri" pitchFamily="34" charset="0"/>
                <a:sym typeface="Wingdings" pitchFamily="2" charset="2"/>
              </a:rPr>
              <a:t>với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cơ</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sở</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dữ</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liệu</a:t>
            </a:r>
            <a:r>
              <a:rPr lang="en-US" sz="2400" i="1" dirty="0" smtClean="0">
                <a:solidFill>
                  <a:srgbClr val="0000FF"/>
                </a:solidFill>
                <a:latin typeface="Calibri" pitchFamily="34" charset="0"/>
                <a:cs typeface="Calibri" pitchFamily="34" charset="0"/>
                <a:sym typeface="Wingdings" pitchFamily="2" charset="2"/>
              </a:rPr>
              <a:t> MySQL</a:t>
            </a:r>
          </a:p>
          <a:p>
            <a:pPr lvl="1" algn="just"/>
            <a:r>
              <a:rPr lang="en-US" sz="2400" i="1" dirty="0" err="1" smtClean="0">
                <a:solidFill>
                  <a:srgbClr val="0000FF"/>
                </a:solidFill>
                <a:latin typeface="Calibri" pitchFamily="34" charset="0"/>
                <a:cs typeface="Calibri" pitchFamily="34" charset="0"/>
                <a:sym typeface="Wingdings" pitchFamily="2" charset="2"/>
              </a:rPr>
              <a:t>Đối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với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đội</a:t>
            </a:r>
            <a:r>
              <a:rPr lang="en-US" sz="2400" i="1" dirty="0" smtClean="0">
                <a:solidFill>
                  <a:srgbClr val="0000FF"/>
                </a:solidFill>
                <a:latin typeface="Calibri" pitchFamily="34" charset="0"/>
                <a:cs typeface="Calibri" pitchFamily="34" charset="0"/>
                <a:sym typeface="Wingdings" pitchFamily="2" charset="2"/>
              </a:rPr>
              <a:t> DEV</a:t>
            </a:r>
          </a:p>
          <a:p>
            <a:pPr lvl="2" algn="just"/>
            <a:r>
              <a:rPr lang="en-US" sz="2000" i="1" dirty="0" err="1" smtClean="0">
                <a:solidFill>
                  <a:srgbClr val="0000FF"/>
                </a:solidFill>
                <a:latin typeface="Calibri" pitchFamily="34" charset="0"/>
                <a:cs typeface="Calibri" pitchFamily="34" charset="0"/>
                <a:sym typeface="Wingdings" pitchFamily="2" charset="2"/>
              </a:rPr>
              <a:t>Chuẩn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bị</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môi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trường</a:t>
            </a:r>
            <a:r>
              <a:rPr lang="en-US" sz="2000" i="1" dirty="0" smtClean="0">
                <a:solidFill>
                  <a:srgbClr val="0000FF"/>
                </a:solidFill>
                <a:latin typeface="Calibri" pitchFamily="34" charset="0"/>
                <a:cs typeface="Calibri" pitchFamily="34" charset="0"/>
                <a:sym typeface="Wingdings" pitchFamily="2" charset="2"/>
              </a:rPr>
              <a:t> Eclipse </a:t>
            </a:r>
            <a:r>
              <a:rPr lang="en-US" sz="2000" i="1" dirty="0" err="1" smtClean="0">
                <a:solidFill>
                  <a:srgbClr val="0000FF"/>
                </a:solidFill>
                <a:latin typeface="Calibri" pitchFamily="34" charset="0"/>
                <a:cs typeface="Calibri" pitchFamily="34" charset="0"/>
                <a:sym typeface="Wingdings" pitchFamily="2" charset="2"/>
              </a:rPr>
              <a:t>với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phiên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bản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phù</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hợp</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với</a:t>
            </a:r>
            <a:r>
              <a:rPr lang="en-US" sz="2000" i="1" dirty="0" smtClean="0">
                <a:solidFill>
                  <a:srgbClr val="0000FF"/>
                </a:solidFill>
                <a:latin typeface="Calibri" pitchFamily="34" charset="0"/>
                <a:cs typeface="Calibri" pitchFamily="34" charset="0"/>
                <a:sym typeface="Wingdings" pitchFamily="2" charset="2"/>
              </a:rPr>
              <a:t> Java </a:t>
            </a:r>
            <a:r>
              <a:rPr lang="en-US" sz="2000" i="1" dirty="0" err="1" smtClean="0">
                <a:solidFill>
                  <a:srgbClr val="0000FF"/>
                </a:solidFill>
                <a:latin typeface="Calibri" pitchFamily="34" charset="0"/>
                <a:cs typeface="Calibri" pitchFamily="34" charset="0"/>
                <a:sym typeface="Wingdings" pitchFamily="2" charset="2"/>
              </a:rPr>
              <a:t>phiên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bản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phù</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hợp</a:t>
            </a:r>
            <a:endParaRPr lang="en-US" sz="2000" i="1" dirty="0" smtClean="0">
              <a:solidFill>
                <a:srgbClr val="0000FF"/>
              </a:solidFill>
              <a:latin typeface="Calibri" pitchFamily="34" charset="0"/>
              <a:cs typeface="Calibri" pitchFamily="34" charset="0"/>
              <a:sym typeface="Wingdings" pitchFamily="2" charset="2"/>
            </a:endParaRPr>
          </a:p>
          <a:p>
            <a:pPr lvl="2" algn="just"/>
            <a:r>
              <a:rPr lang="en-US" sz="2000" i="1" dirty="0" err="1" smtClean="0">
                <a:solidFill>
                  <a:srgbClr val="0000FF"/>
                </a:solidFill>
                <a:latin typeface="Calibri" pitchFamily="34" charset="0"/>
                <a:cs typeface="Calibri" pitchFamily="34" charset="0"/>
                <a:sym typeface="Wingdings" pitchFamily="2" charset="2"/>
              </a:rPr>
              <a:t>Chuẩn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bị</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môi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trường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cho</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việc</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quản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lý</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mã</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nguồn</a:t>
            </a:r>
            <a:endParaRPr lang="en-US" sz="2000" i="1" dirty="0" smtClean="0">
              <a:solidFill>
                <a:srgbClr val="0000FF"/>
              </a:solidFill>
              <a:latin typeface="Calibri" pitchFamily="34" charset="0"/>
              <a:cs typeface="Calibri" pitchFamily="34" charset="0"/>
              <a:sym typeface="Wingdings" pitchFamily="2" charset="2"/>
            </a:endParaRPr>
          </a:p>
          <a:p>
            <a:pPr lvl="2" algn="just"/>
            <a:r>
              <a:rPr lang="en-US" sz="2000" i="1" dirty="0" err="1" smtClean="0">
                <a:solidFill>
                  <a:srgbClr val="0000FF"/>
                </a:solidFill>
                <a:latin typeface="Calibri" pitchFamily="34" charset="0"/>
                <a:cs typeface="Calibri" pitchFamily="34" charset="0"/>
                <a:sym typeface="Wingdings" pitchFamily="2" charset="2"/>
              </a:rPr>
              <a:t>Chuẩn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bị</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môi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trường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cho</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các</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tài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liệu</a:t>
            </a:r>
            <a:r>
              <a:rPr lang="en-US" sz="2000" i="1" dirty="0" smtClean="0">
                <a:solidFill>
                  <a:srgbClr val="0000FF"/>
                </a:solidFill>
                <a:latin typeface="Calibri" pitchFamily="34" charset="0"/>
                <a:cs typeface="Calibri" pitchFamily="34" charset="0"/>
                <a:sym typeface="Wingdings" pitchFamily="2" charset="2"/>
              </a:rPr>
              <a:t> (DOCX?, Visio? </a:t>
            </a:r>
            <a:r>
              <a:rPr lang="en-US" sz="2000" i="1" dirty="0" err="1" smtClean="0">
                <a:solidFill>
                  <a:srgbClr val="0000FF"/>
                </a:solidFill>
                <a:latin typeface="Calibri" pitchFamily="34" charset="0"/>
                <a:cs typeface="Calibri" pitchFamily="34" charset="0"/>
                <a:sym typeface="Wingdings" pitchFamily="2" charset="2"/>
              </a:rPr>
              <a:t>Snagit</a:t>
            </a:r>
            <a:r>
              <a:rPr lang="en-US" sz="2000" i="1" dirty="0" smtClean="0">
                <a:solidFill>
                  <a:srgbClr val="0000FF"/>
                </a:solidFill>
                <a:latin typeface="Calibri" pitchFamily="34" charset="0"/>
                <a:cs typeface="Calibri" pitchFamily="34" charset="0"/>
                <a:sym typeface="Wingdings" pitchFamily="2" charset="2"/>
              </a:rPr>
              <a:t>?...)</a:t>
            </a:r>
          </a:p>
          <a:p>
            <a:pPr lvl="1" algn="just"/>
            <a:r>
              <a:rPr lang="en-US" sz="2400" i="1" dirty="0" err="1" smtClean="0">
                <a:solidFill>
                  <a:srgbClr val="0000FF"/>
                </a:solidFill>
                <a:latin typeface="Calibri" pitchFamily="34" charset="0"/>
                <a:cs typeface="Calibri" pitchFamily="34" charset="0"/>
                <a:sym typeface="Wingdings" pitchFamily="2" charset="2"/>
              </a:rPr>
              <a:t>Đối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với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đội</a:t>
            </a:r>
            <a:r>
              <a:rPr lang="en-US" sz="2400" i="1" dirty="0" smtClean="0">
                <a:solidFill>
                  <a:srgbClr val="0000FF"/>
                </a:solidFill>
                <a:latin typeface="Calibri" pitchFamily="34" charset="0"/>
                <a:cs typeface="Calibri" pitchFamily="34" charset="0"/>
                <a:sym typeface="Wingdings" pitchFamily="2" charset="2"/>
              </a:rPr>
              <a:t> TEST</a:t>
            </a:r>
          </a:p>
          <a:p>
            <a:pPr lvl="2" algn="just"/>
            <a:r>
              <a:rPr lang="en-US" sz="2000" i="1" dirty="0" err="1" smtClean="0">
                <a:solidFill>
                  <a:srgbClr val="0000FF"/>
                </a:solidFill>
                <a:latin typeface="Calibri" pitchFamily="34" charset="0"/>
                <a:cs typeface="Calibri" pitchFamily="34" charset="0"/>
                <a:sym typeface="Wingdings" pitchFamily="2" charset="2"/>
              </a:rPr>
              <a:t>Chuẩn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bị</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các</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công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cụ</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tham</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gia</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vào</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kiểm</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thử</a:t>
            </a:r>
            <a:r>
              <a:rPr lang="en-US" sz="2000" i="1" dirty="0" smtClean="0">
                <a:solidFill>
                  <a:srgbClr val="0000FF"/>
                </a:solidFill>
                <a:latin typeface="Calibri" pitchFamily="34" charset="0"/>
                <a:cs typeface="Calibri" pitchFamily="34" charset="0"/>
                <a:sym typeface="Wingdings" pitchFamily="2" charset="2"/>
              </a:rPr>
              <a:t> (Postman? </a:t>
            </a:r>
            <a:r>
              <a:rPr lang="en-US" sz="2000" i="1" dirty="0" err="1" smtClean="0">
                <a:solidFill>
                  <a:srgbClr val="0000FF"/>
                </a:solidFill>
                <a:latin typeface="Calibri" pitchFamily="34" charset="0"/>
                <a:cs typeface="Calibri" pitchFamily="34" charset="0"/>
                <a:sym typeface="Wingdings" pitchFamily="2" charset="2"/>
              </a:rPr>
              <a:t>Jmeter</a:t>
            </a:r>
            <a:r>
              <a:rPr lang="en-US" sz="2000" i="1" dirty="0" smtClean="0">
                <a:solidFill>
                  <a:srgbClr val="0000FF"/>
                </a:solidFill>
                <a:latin typeface="Calibri" pitchFamily="34" charset="0"/>
                <a:cs typeface="Calibri" pitchFamily="34" charset="0"/>
                <a:sym typeface="Wingdings" pitchFamily="2" charset="2"/>
              </a:rPr>
              <a:t>? …)</a:t>
            </a:r>
          </a:p>
          <a:p>
            <a:pPr lvl="2" algn="just"/>
            <a:r>
              <a:rPr lang="en-US" sz="2000" i="1" dirty="0" err="1">
                <a:solidFill>
                  <a:srgbClr val="0000FF"/>
                </a:solidFill>
                <a:latin typeface="Calibri" pitchFamily="34" charset="0"/>
                <a:cs typeface="Calibri" pitchFamily="34" charset="0"/>
                <a:sym typeface="Wingdings" pitchFamily="2" charset="2"/>
              </a:rPr>
              <a:t>Chuẩn</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bị</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môi</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trường</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cho</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các</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tài</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liệu</a:t>
            </a:r>
            <a:r>
              <a:rPr lang="en-US" sz="2000" i="1" dirty="0">
                <a:solidFill>
                  <a:srgbClr val="0000FF"/>
                </a:solidFill>
                <a:latin typeface="Calibri" pitchFamily="34" charset="0"/>
                <a:cs typeface="Calibri" pitchFamily="34" charset="0"/>
                <a:sym typeface="Wingdings" pitchFamily="2" charset="2"/>
              </a:rPr>
              <a:t> (DOCX?, Visio? </a:t>
            </a:r>
            <a:r>
              <a:rPr lang="en-US" sz="2000" i="1" dirty="0" err="1">
                <a:solidFill>
                  <a:srgbClr val="0000FF"/>
                </a:solidFill>
                <a:latin typeface="Calibri" pitchFamily="34" charset="0"/>
                <a:cs typeface="Calibri" pitchFamily="34" charset="0"/>
                <a:sym typeface="Wingdings" pitchFamily="2" charset="2"/>
              </a:rPr>
              <a:t>Snagit</a:t>
            </a:r>
            <a:r>
              <a:rPr lang="en-US" sz="2000" i="1" dirty="0" smtClean="0">
                <a:solidFill>
                  <a:srgbClr val="0000FF"/>
                </a:solidFill>
                <a:latin typeface="Calibri" pitchFamily="34" charset="0"/>
                <a:cs typeface="Calibri" pitchFamily="34" charset="0"/>
                <a:sym typeface="Wingdings" pitchFamily="2" charset="2"/>
              </a:rPr>
              <a:t>?...)</a:t>
            </a:r>
          </a:p>
          <a:p>
            <a:pPr lvl="2" algn="just"/>
            <a:r>
              <a:rPr lang="en-US" sz="2000" i="1" dirty="0" err="1">
                <a:solidFill>
                  <a:srgbClr val="0000FF"/>
                </a:solidFill>
                <a:latin typeface="Calibri" pitchFamily="34" charset="0"/>
                <a:cs typeface="Calibri" pitchFamily="34" charset="0"/>
                <a:sym typeface="Wingdings" pitchFamily="2" charset="2"/>
              </a:rPr>
              <a:t>Chuẩn</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bị</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môi</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trường</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cho</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việc</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quản</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lý</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mã</a:t>
            </a:r>
            <a:r>
              <a:rPr lang="en-US" sz="2000" i="1" dirty="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nguồn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Autotest</a:t>
            </a:r>
            <a:r>
              <a:rPr lang="en-US" sz="2000" i="1" dirty="0" smtClean="0">
                <a:solidFill>
                  <a:srgbClr val="0000FF"/>
                </a:solidFill>
                <a:latin typeface="Calibri" pitchFamily="34" charset="0"/>
                <a:cs typeface="Calibri" pitchFamily="34" charset="0"/>
                <a:sym typeface="Wingdings" pitchFamily="2" charset="2"/>
              </a:rPr>
              <a:t>)</a:t>
            </a:r>
            <a:endParaRPr lang="en-US" sz="2000" i="1" dirty="0">
              <a:solidFill>
                <a:srgbClr val="0000FF"/>
              </a:solidFill>
              <a:latin typeface="Calibri" pitchFamily="34" charset="0"/>
              <a:cs typeface="Calibri" pitchFamily="34" charset="0"/>
              <a:sym typeface="Wingdings" pitchFamily="2" charset="2"/>
            </a:endParaRPr>
          </a:p>
          <a:p>
            <a:pPr lvl="2" algn="just"/>
            <a:r>
              <a:rPr lang="en-US" sz="2000" i="1" dirty="0" err="1" smtClean="0">
                <a:solidFill>
                  <a:srgbClr val="0000FF"/>
                </a:solidFill>
                <a:latin typeface="Calibri" pitchFamily="34" charset="0"/>
                <a:cs typeface="Calibri" pitchFamily="34" charset="0"/>
                <a:sym typeface="Wingdings" pitchFamily="2" charset="2"/>
              </a:rPr>
              <a:t>Chuẩn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bị</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môi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trường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cho</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kiểm</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thử</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tự</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động</a:t>
            </a:r>
            <a:r>
              <a:rPr lang="en-US" sz="2000" i="1" dirty="0" smtClean="0">
                <a:solidFill>
                  <a:srgbClr val="0000FF"/>
                </a:solidFill>
                <a:latin typeface="Calibri" pitchFamily="34" charset="0"/>
                <a:cs typeface="Calibri" pitchFamily="34" charset="0"/>
                <a:sym typeface="Wingdings" pitchFamily="2" charset="2"/>
              </a:rPr>
              <a:t> (Selenium?)</a:t>
            </a:r>
            <a:endParaRPr lang="en-US" i="1" dirty="0">
              <a:solidFill>
                <a:srgbClr val="0000FF"/>
              </a:solidFill>
              <a:latin typeface="Calibri" pitchFamily="34" charset="0"/>
              <a:cs typeface="Calibri" pitchFamily="34" charset="0"/>
              <a:sym typeface="Wingdings" pitchFamily="2" charset="2"/>
            </a:endParaRPr>
          </a:p>
          <a:p>
            <a:pPr lvl="2" algn="just"/>
            <a:r>
              <a:rPr lang="en-US" sz="2000" i="1" dirty="0" err="1" smtClean="0">
                <a:solidFill>
                  <a:srgbClr val="0000FF"/>
                </a:solidFill>
                <a:latin typeface="Calibri" pitchFamily="34" charset="0"/>
                <a:cs typeface="Calibri" pitchFamily="34" charset="0"/>
                <a:sym typeface="Wingdings" pitchFamily="2" charset="2"/>
              </a:rPr>
              <a:t>Chuẩn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bị</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môi</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trường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quản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lý</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cho</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kiểm</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thử</a:t>
            </a:r>
            <a:r>
              <a:rPr lang="en-US" sz="2000" i="1" dirty="0" smtClean="0">
                <a:solidFill>
                  <a:srgbClr val="0000FF"/>
                </a:solidFill>
                <a:latin typeface="Calibri" pitchFamily="34" charset="0"/>
                <a:cs typeface="Calibri" pitchFamily="34" charset="0"/>
                <a:sym typeface="Wingdings" pitchFamily="2" charset="2"/>
              </a:rPr>
              <a:t> (Jira? Mantis?)</a:t>
            </a:r>
            <a:endParaRPr lang="en-US" sz="2000" i="1" dirty="0">
              <a:solidFill>
                <a:srgbClr val="0000FF"/>
              </a:solidFill>
              <a:latin typeface="Calibri" pitchFamily="34" charset="0"/>
              <a:cs typeface="Calibri" pitchFamily="34" charset="0"/>
              <a:sym typeface="Wingdings" pitchFamily="2" charset="2"/>
            </a:endParaRPr>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17</a:t>
            </a:fld>
            <a:endParaRPr lang="en-US" dirty="0"/>
          </a:p>
        </p:txBody>
      </p:sp>
    </p:spTree>
    <p:extLst>
      <p:ext uri="{BB962C8B-B14F-4D97-AF65-F5344CB8AC3E}">
        <p14:creationId xmlns:p14="http://schemas.microsoft.com/office/powerpoint/2010/main" val="24369553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Chuẩn</a:t>
            </a:r>
            <a:r>
              <a:rPr lang="en-US" dirty="0" smtClean="0"/>
              <a:t> </a:t>
            </a:r>
            <a:r>
              <a:rPr lang="en-US" dirty="0" err="1" smtClean="0"/>
              <a:t>bị</a:t>
            </a:r>
            <a:r>
              <a:rPr lang="en-US" dirty="0" smtClean="0"/>
              <a:t> </a:t>
            </a:r>
            <a:r>
              <a:rPr lang="en-US" dirty="0" err="1" smtClean="0"/>
              <a:t>cho</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marL="457200" lvl="1" indent="0" algn="just">
              <a:buNone/>
            </a:pPr>
            <a:r>
              <a:rPr lang="en-US" sz="2400" i="1" dirty="0" err="1" smtClean="0">
                <a:solidFill>
                  <a:srgbClr val="0000FF"/>
                </a:solidFill>
                <a:latin typeface="Calibri" pitchFamily="34" charset="0"/>
                <a:cs typeface="Calibri" pitchFamily="34" charset="0"/>
                <a:sym typeface="Wingdings" pitchFamily="2" charset="2"/>
              </a:rPr>
              <a:t>Ví</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dụ</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trong</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việc</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triển</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khai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dự</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án</a:t>
            </a:r>
            <a:r>
              <a:rPr lang="en-US" sz="2400" i="1" dirty="0" smtClean="0">
                <a:solidFill>
                  <a:srgbClr val="0000FF"/>
                </a:solidFill>
                <a:latin typeface="Calibri" pitchFamily="34" charset="0"/>
                <a:cs typeface="Calibri" pitchFamily="34" charset="0"/>
                <a:sym typeface="Wingdings" pitchFamily="2" charset="2"/>
              </a:rPr>
              <a:t> Web </a:t>
            </a:r>
            <a:r>
              <a:rPr lang="en-US" sz="2400" i="1" dirty="0" err="1" smtClean="0">
                <a:solidFill>
                  <a:srgbClr val="0000FF"/>
                </a:solidFill>
                <a:latin typeface="Calibri" pitchFamily="34" charset="0"/>
                <a:cs typeface="Calibri" pitchFamily="34" charset="0"/>
                <a:sym typeface="Wingdings" pitchFamily="2" charset="2"/>
              </a:rPr>
              <a:t>trên</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công</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nghệ</a:t>
            </a:r>
            <a:r>
              <a:rPr lang="en-US" sz="2400" i="1" dirty="0" smtClean="0">
                <a:solidFill>
                  <a:srgbClr val="0000FF"/>
                </a:solidFill>
                <a:latin typeface="Calibri" pitchFamily="34" charset="0"/>
                <a:cs typeface="Calibri" pitchFamily="34" charset="0"/>
                <a:sym typeface="Wingdings" pitchFamily="2" charset="2"/>
              </a:rPr>
              <a:t> Java </a:t>
            </a:r>
            <a:r>
              <a:rPr lang="en-US" sz="2400" i="1" dirty="0" err="1" smtClean="0">
                <a:solidFill>
                  <a:srgbClr val="0000FF"/>
                </a:solidFill>
                <a:latin typeface="Calibri" pitchFamily="34" charset="0"/>
                <a:cs typeface="Calibri" pitchFamily="34" charset="0"/>
                <a:sym typeface="Wingdings" pitchFamily="2" charset="2"/>
              </a:rPr>
              <a:t>với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cơ</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sở</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dữ</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liệu</a:t>
            </a:r>
            <a:r>
              <a:rPr lang="en-US" sz="2400" i="1" dirty="0" smtClean="0">
                <a:solidFill>
                  <a:srgbClr val="0000FF"/>
                </a:solidFill>
                <a:latin typeface="Calibri" pitchFamily="34" charset="0"/>
                <a:cs typeface="Calibri" pitchFamily="34" charset="0"/>
                <a:sym typeface="Wingdings" pitchFamily="2" charset="2"/>
              </a:rPr>
              <a:t> MySQL</a:t>
            </a:r>
          </a:p>
          <a:p>
            <a:pPr lvl="1" algn="just"/>
            <a:r>
              <a:rPr lang="en-US" sz="2400" i="1" dirty="0" err="1" smtClean="0">
                <a:solidFill>
                  <a:srgbClr val="0000FF"/>
                </a:solidFill>
                <a:latin typeface="Calibri" pitchFamily="34" charset="0"/>
                <a:cs typeface="Calibri" pitchFamily="34" charset="0"/>
                <a:sym typeface="Wingdings" pitchFamily="2" charset="2"/>
              </a:rPr>
              <a:t>Môi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trường</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thử</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nghiệm</a:t>
            </a:r>
            <a:endParaRPr lang="en-US" sz="2400" i="1" dirty="0" smtClean="0">
              <a:solidFill>
                <a:srgbClr val="0000FF"/>
              </a:solidFill>
              <a:latin typeface="Calibri" pitchFamily="34" charset="0"/>
              <a:cs typeface="Calibri" pitchFamily="34" charset="0"/>
              <a:sym typeface="Wingdings" pitchFamily="2" charset="2"/>
            </a:endParaRPr>
          </a:p>
          <a:p>
            <a:pPr lvl="2" algn="just"/>
            <a:r>
              <a:rPr lang="en-US" sz="2000" i="1" dirty="0" err="1">
                <a:solidFill>
                  <a:srgbClr val="0000FF"/>
                </a:solidFill>
                <a:latin typeface="Calibri" pitchFamily="34" charset="0"/>
                <a:cs typeface="Calibri" pitchFamily="34" charset="0"/>
                <a:sym typeface="Wingdings" pitchFamily="2" charset="2"/>
              </a:rPr>
              <a:t>Chuẩn</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bị</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môi</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trường</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kiểm</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thử</a:t>
            </a:r>
            <a:r>
              <a:rPr lang="en-US" sz="2000" i="1" dirty="0">
                <a:solidFill>
                  <a:srgbClr val="0000FF"/>
                </a:solidFill>
                <a:latin typeface="Calibri" pitchFamily="34" charset="0"/>
                <a:cs typeface="Calibri" pitchFamily="34" charset="0"/>
                <a:sym typeface="Wingdings" pitchFamily="2" charset="2"/>
              </a:rPr>
              <a:t>: Server? Web Server? </a:t>
            </a:r>
          </a:p>
          <a:p>
            <a:pPr lvl="2" algn="just"/>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Chuẩn</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bị</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môi</a:t>
            </a:r>
            <a:r>
              <a:rPr lang="en-US" sz="2000" i="1" dirty="0">
                <a:solidFill>
                  <a:srgbClr val="0000FF"/>
                </a:solidFill>
                <a:latin typeface="Calibri" pitchFamily="34" charset="0"/>
                <a:cs typeface="Calibri" pitchFamily="34" charset="0"/>
                <a:sym typeface="Wingdings" pitchFamily="2" charset="2"/>
              </a:rPr>
              <a:t> </a:t>
            </a:r>
            <a:r>
              <a:rPr lang="en-US" sz="2000" i="1" dirty="0" err="1">
                <a:solidFill>
                  <a:srgbClr val="0000FF"/>
                </a:solidFill>
                <a:latin typeface="Calibri" pitchFamily="34" charset="0"/>
                <a:cs typeface="Calibri" pitchFamily="34" charset="0"/>
                <a:sym typeface="Wingdings" pitchFamily="2" charset="2"/>
              </a:rPr>
              <a:t>trường</a:t>
            </a:r>
            <a:r>
              <a:rPr lang="en-US" sz="2000" i="1" dirty="0">
                <a:solidFill>
                  <a:srgbClr val="0000FF"/>
                </a:solidFill>
                <a:latin typeface="Calibri" pitchFamily="34" charset="0"/>
                <a:cs typeface="Calibri" pitchFamily="34" charset="0"/>
                <a:sym typeface="Wingdings" pitchFamily="2" charset="2"/>
              </a:rPr>
              <a:t> </a:t>
            </a:r>
            <a:r>
              <a:rPr lang="en-US" sz="2000" i="1" dirty="0" smtClean="0">
                <a:solidFill>
                  <a:srgbClr val="0000FF"/>
                </a:solidFill>
                <a:latin typeface="Calibri" pitchFamily="34" charset="0"/>
                <a:cs typeface="Calibri" pitchFamily="34" charset="0"/>
                <a:sym typeface="Wingdings" pitchFamily="2" charset="2"/>
              </a:rPr>
              <a:t>MySQL</a:t>
            </a:r>
          </a:p>
          <a:p>
            <a:pPr lvl="1" algn="just"/>
            <a:r>
              <a:rPr lang="en-US" sz="2400" i="1" dirty="0" err="1" smtClean="0">
                <a:solidFill>
                  <a:srgbClr val="0000FF"/>
                </a:solidFill>
                <a:latin typeface="Calibri" pitchFamily="34" charset="0"/>
                <a:cs typeface="Calibri" pitchFamily="34" charset="0"/>
                <a:sym typeface="Wingdings" pitchFamily="2" charset="2"/>
              </a:rPr>
              <a:t>Đối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với</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quản</a:t>
            </a:r>
            <a:r>
              <a:rPr lang="en-US" sz="2400" i="1" dirty="0" smtClean="0">
                <a:solidFill>
                  <a:srgbClr val="0000FF"/>
                </a:solidFill>
                <a:latin typeface="Calibri" pitchFamily="34" charset="0"/>
                <a:cs typeface="Calibri" pitchFamily="34" charset="0"/>
                <a:sym typeface="Wingdings" pitchFamily="2" charset="2"/>
              </a:rPr>
              <a:t> </a:t>
            </a:r>
            <a:r>
              <a:rPr lang="en-US" sz="2400" i="1" dirty="0" err="1" smtClean="0">
                <a:solidFill>
                  <a:srgbClr val="0000FF"/>
                </a:solidFill>
                <a:latin typeface="Calibri" pitchFamily="34" charset="0"/>
                <a:cs typeface="Calibri" pitchFamily="34" charset="0"/>
                <a:sym typeface="Wingdings" pitchFamily="2" charset="2"/>
              </a:rPr>
              <a:t>lý</a:t>
            </a:r>
            <a:endParaRPr lang="en-US" sz="2400" i="1" dirty="0" smtClean="0">
              <a:solidFill>
                <a:srgbClr val="0000FF"/>
              </a:solidFill>
              <a:latin typeface="Calibri" pitchFamily="34" charset="0"/>
              <a:cs typeface="Calibri" pitchFamily="34" charset="0"/>
              <a:sym typeface="Wingdings" pitchFamily="2" charset="2"/>
            </a:endParaRPr>
          </a:p>
          <a:p>
            <a:pPr lvl="2" algn="just"/>
            <a:r>
              <a:rPr lang="en-US" sz="2000" i="1" dirty="0" err="1" smtClean="0">
                <a:solidFill>
                  <a:srgbClr val="0000FF"/>
                </a:solidFill>
                <a:latin typeface="Calibri" pitchFamily="34" charset="0"/>
                <a:cs typeface="Calibri" pitchFamily="34" charset="0"/>
                <a:sym typeface="Wingdings" pitchFamily="2" charset="2"/>
              </a:rPr>
              <a:t>Xác</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định</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công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cụ</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quản</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lý</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dự</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án</a:t>
            </a:r>
            <a:r>
              <a:rPr lang="en-US" sz="2000" i="1" dirty="0" smtClean="0">
                <a:solidFill>
                  <a:srgbClr val="0000FF"/>
                </a:solidFill>
                <a:latin typeface="Calibri" pitchFamily="34" charset="0"/>
                <a:cs typeface="Calibri" pitchFamily="34" charset="0"/>
                <a:sym typeface="Wingdings" pitchFamily="2" charset="2"/>
              </a:rPr>
              <a:t> (Trello? Project Manager? </a:t>
            </a:r>
            <a:r>
              <a:rPr lang="en-US" sz="2000" i="1" dirty="0" err="1" smtClean="0">
                <a:solidFill>
                  <a:srgbClr val="0000FF"/>
                </a:solidFill>
                <a:latin typeface="Calibri" pitchFamily="34" charset="0"/>
                <a:cs typeface="Calibri" pitchFamily="34" charset="0"/>
                <a:sym typeface="Wingdings" pitchFamily="2" charset="2"/>
              </a:rPr>
              <a:t>Clickup</a:t>
            </a:r>
            <a:r>
              <a:rPr lang="en-US" sz="2000" i="1" dirty="0" smtClean="0">
                <a:solidFill>
                  <a:srgbClr val="0000FF"/>
                </a:solidFill>
                <a:latin typeface="Calibri" pitchFamily="34" charset="0"/>
                <a:cs typeface="Calibri" pitchFamily="34" charset="0"/>
                <a:sym typeface="Wingdings" pitchFamily="2" charset="2"/>
              </a:rPr>
              <a:t>?)</a:t>
            </a:r>
          </a:p>
          <a:p>
            <a:pPr lvl="2" algn="just"/>
            <a:r>
              <a:rPr lang="en-US" sz="2000" i="1" dirty="0" err="1" smtClean="0">
                <a:solidFill>
                  <a:srgbClr val="0000FF"/>
                </a:solidFill>
                <a:latin typeface="Calibri" pitchFamily="34" charset="0"/>
                <a:cs typeface="Calibri" pitchFamily="34" charset="0"/>
                <a:sym typeface="Wingdings" pitchFamily="2" charset="2"/>
              </a:rPr>
              <a:t>Xác</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định</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các</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quy</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trình</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áp</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dụng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trong</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dự</a:t>
            </a:r>
            <a:r>
              <a:rPr lang="en-US" sz="2000" i="1" dirty="0" smtClean="0">
                <a:solidFill>
                  <a:srgbClr val="0000FF"/>
                </a:solidFill>
                <a:latin typeface="Calibri" pitchFamily="34" charset="0"/>
                <a:cs typeface="Calibri" pitchFamily="34" charset="0"/>
                <a:sym typeface="Wingdings" pitchFamily="2" charset="2"/>
              </a:rPr>
              <a:t> </a:t>
            </a:r>
            <a:r>
              <a:rPr lang="en-US" sz="2000" i="1" dirty="0" err="1" smtClean="0">
                <a:solidFill>
                  <a:srgbClr val="0000FF"/>
                </a:solidFill>
                <a:latin typeface="Calibri" pitchFamily="34" charset="0"/>
                <a:cs typeface="Calibri" pitchFamily="34" charset="0"/>
                <a:sym typeface="Wingdings" pitchFamily="2" charset="2"/>
              </a:rPr>
              <a:t>án</a:t>
            </a:r>
            <a:endParaRPr lang="en-US" sz="2000" i="1" dirty="0" smtClean="0">
              <a:solidFill>
                <a:srgbClr val="0000FF"/>
              </a:solidFill>
              <a:latin typeface="Calibri" pitchFamily="34" charset="0"/>
              <a:cs typeface="Calibri" pitchFamily="34" charset="0"/>
              <a:sym typeface="Wingdings" pitchFamily="2" charset="2"/>
            </a:endParaRPr>
          </a:p>
          <a:p>
            <a:pPr lvl="3" algn="just"/>
            <a:r>
              <a:rPr lang="en-US" sz="1600" i="1" dirty="0" err="1" smtClean="0">
                <a:solidFill>
                  <a:srgbClr val="0000FF"/>
                </a:solidFill>
                <a:latin typeface="Calibri" pitchFamily="34" charset="0"/>
                <a:cs typeface="Calibri" pitchFamily="34" charset="0"/>
                <a:sym typeface="Wingdings" pitchFamily="2" charset="2"/>
              </a:rPr>
              <a:t>Quy</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trình</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quản</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lý</a:t>
            </a:r>
            <a:r>
              <a:rPr lang="en-US" sz="1600" i="1" dirty="0" smtClean="0">
                <a:solidFill>
                  <a:srgbClr val="0000FF"/>
                </a:solidFill>
                <a:latin typeface="Calibri" pitchFamily="34" charset="0"/>
                <a:cs typeface="Calibri" pitchFamily="34" charset="0"/>
                <a:sym typeface="Wingdings" pitchFamily="2" charset="2"/>
              </a:rPr>
              <a:t> source code, test case</a:t>
            </a:r>
          </a:p>
          <a:p>
            <a:pPr lvl="3" algn="just"/>
            <a:r>
              <a:rPr lang="en-US" sz="1600" i="1" dirty="0" err="1" smtClean="0">
                <a:solidFill>
                  <a:srgbClr val="0000FF"/>
                </a:solidFill>
                <a:latin typeface="Calibri" pitchFamily="34" charset="0"/>
                <a:cs typeface="Calibri" pitchFamily="34" charset="0"/>
                <a:sym typeface="Wingdings" pitchFamily="2" charset="2"/>
              </a:rPr>
              <a:t>Quy</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trình</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quản</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lý</a:t>
            </a:r>
            <a:r>
              <a:rPr lang="en-US" sz="1600" i="1" dirty="0" smtClean="0">
                <a:solidFill>
                  <a:srgbClr val="0000FF"/>
                </a:solidFill>
                <a:latin typeface="Calibri" pitchFamily="34" charset="0"/>
                <a:cs typeface="Calibri" pitchFamily="34" charset="0"/>
                <a:sym typeface="Wingdings" pitchFamily="2" charset="2"/>
              </a:rPr>
              <a:t> task</a:t>
            </a:r>
          </a:p>
          <a:p>
            <a:pPr lvl="3" algn="just"/>
            <a:r>
              <a:rPr lang="en-US" sz="1600" i="1" dirty="0" err="1" smtClean="0">
                <a:solidFill>
                  <a:srgbClr val="0000FF"/>
                </a:solidFill>
                <a:latin typeface="Calibri" pitchFamily="34" charset="0"/>
                <a:cs typeface="Calibri" pitchFamily="34" charset="0"/>
                <a:sym typeface="Wingdings" pitchFamily="2" charset="2"/>
              </a:rPr>
              <a:t>Quy</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trình</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quản</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lý</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tài</a:t>
            </a:r>
            <a:r>
              <a:rPr lang="en-US" sz="1600" i="1" dirty="0" smtClean="0">
                <a:solidFill>
                  <a:srgbClr val="0000FF"/>
                </a:solidFill>
                <a:latin typeface="Calibri" pitchFamily="34" charset="0"/>
                <a:cs typeface="Calibri" pitchFamily="34" charset="0"/>
                <a:sym typeface="Wingdings" pitchFamily="2" charset="2"/>
              </a:rPr>
              <a:t> </a:t>
            </a:r>
            <a:r>
              <a:rPr lang="en-US" sz="1600" i="1" dirty="0" err="1" smtClean="0">
                <a:solidFill>
                  <a:srgbClr val="0000FF"/>
                </a:solidFill>
                <a:latin typeface="Calibri" pitchFamily="34" charset="0"/>
                <a:cs typeface="Calibri" pitchFamily="34" charset="0"/>
                <a:sym typeface="Wingdings" pitchFamily="2" charset="2"/>
              </a:rPr>
              <a:t>liệu</a:t>
            </a:r>
            <a:endParaRPr lang="en-US" sz="1600" i="1" dirty="0" smtClean="0">
              <a:solidFill>
                <a:srgbClr val="0000FF"/>
              </a:solidFill>
              <a:latin typeface="Calibri" pitchFamily="34" charset="0"/>
              <a:cs typeface="Calibri" pitchFamily="34" charset="0"/>
              <a:sym typeface="Wingdings" pitchFamily="2" charset="2"/>
            </a:endParaRPr>
          </a:p>
          <a:p>
            <a:pPr lvl="3" algn="just"/>
            <a:r>
              <a:rPr lang="en-US" sz="1600" i="1" dirty="0" smtClean="0">
                <a:solidFill>
                  <a:srgbClr val="0000FF"/>
                </a:solidFill>
                <a:latin typeface="Calibri" pitchFamily="34" charset="0"/>
                <a:cs typeface="Calibri" pitchFamily="34" charset="0"/>
                <a:sym typeface="Wingdings" pitchFamily="2" charset="2"/>
              </a:rPr>
              <a:t>…</a:t>
            </a:r>
          </a:p>
          <a:p>
            <a:pPr lvl="2" algn="just"/>
            <a:endParaRPr lang="en-US" sz="2000" i="1" dirty="0" smtClean="0">
              <a:solidFill>
                <a:srgbClr val="0000FF"/>
              </a:solidFill>
              <a:latin typeface="Calibri" pitchFamily="34" charset="0"/>
              <a:cs typeface="Calibri" pitchFamily="34" charset="0"/>
              <a:sym typeface="Wingdings" pitchFamily="2" charset="2"/>
            </a:endParaRPr>
          </a:p>
          <a:p>
            <a:pPr marL="457200" lvl="1" indent="0" algn="just">
              <a:buNone/>
            </a:pPr>
            <a:endParaRPr lang="en-US" sz="2400" i="1" dirty="0" smtClean="0">
              <a:solidFill>
                <a:srgbClr val="0000FF"/>
              </a:solidFill>
              <a:latin typeface="Calibri" pitchFamily="34" charset="0"/>
              <a:cs typeface="Calibri" pitchFamily="34" charset="0"/>
              <a:sym typeface="Wingdings" pitchFamily="2" charset="2"/>
            </a:endParaRPr>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18</a:t>
            </a:fld>
            <a:endParaRPr lang="en-US" dirty="0"/>
          </a:p>
        </p:txBody>
      </p:sp>
    </p:spTree>
    <p:extLst>
      <p:ext uri="{BB962C8B-B14F-4D97-AF65-F5344CB8AC3E}">
        <p14:creationId xmlns:p14="http://schemas.microsoft.com/office/powerpoint/2010/main" val="296076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smtClean="0"/>
              <a:t>Input:</a:t>
            </a:r>
            <a:endParaRPr lang="en-US" dirty="0" smtClean="0"/>
          </a:p>
          <a:p>
            <a:pPr marL="0" indent="0" algn="just">
              <a:buNone/>
            </a:pPr>
            <a:r>
              <a:rPr lang="en-US" sz="2400" dirty="0" smtClean="0">
                <a:sym typeface="Wingdings" panose="05000000000000000000" pitchFamily="2" charset="2"/>
              </a:rPr>
              <a:t>	</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Tài</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liệu</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đặc</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tả</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yêu</a:t>
            </a:r>
            <a:r>
              <a:rPr lang="en-US" sz="2400" i="1" dirty="0" smtClean="0">
                <a:solidFill>
                  <a:srgbClr val="0000FF"/>
                </a:solidFill>
                <a:sym typeface="Wingdings" panose="05000000000000000000" pitchFamily="2" charset="2"/>
              </a:rPr>
              <a:t> </a:t>
            </a:r>
            <a:r>
              <a:rPr lang="en-US" sz="2400" i="1" dirty="0" err="1" smtClean="0">
                <a:solidFill>
                  <a:srgbClr val="0000FF"/>
                </a:solidFill>
                <a:sym typeface="Wingdings" panose="05000000000000000000" pitchFamily="2" charset="2"/>
              </a:rPr>
              <a:t>cầu</a:t>
            </a:r>
            <a:r>
              <a:rPr lang="en-US" sz="2400" i="1" dirty="0" smtClean="0">
                <a:solidFill>
                  <a:srgbClr val="0000FF"/>
                </a:solidFill>
                <a:sym typeface="Wingdings" panose="05000000000000000000" pitchFamily="2" charset="2"/>
              </a:rPr>
              <a:t>:</a:t>
            </a:r>
          </a:p>
          <a:p>
            <a:pPr marL="0" indent="0" algn="just">
              <a:buNone/>
            </a:pPr>
            <a:r>
              <a:rPr lang="en-US" sz="1800" i="1" dirty="0">
                <a:solidFill>
                  <a:srgbClr val="0000FF"/>
                </a:solidFill>
                <a:sym typeface="Wingdings" panose="05000000000000000000" pitchFamily="2" charset="2"/>
              </a:rPr>
              <a:t>	</a:t>
            </a:r>
            <a:r>
              <a:rPr lang="en-US" sz="1800" i="1" dirty="0" smtClean="0">
                <a:solidFill>
                  <a:srgbClr val="0000FF"/>
                </a:solidFill>
                <a:sym typeface="Wingdings" panose="05000000000000000000" pitchFamily="2" charset="2"/>
                <a:hlinkClick r:id="rId2" action="ppaction://hlinkfile"/>
              </a:rPr>
              <a:t>Template - </a:t>
            </a:r>
            <a:r>
              <a:rPr lang="en-US" sz="1800" i="1" dirty="0" err="1" smtClean="0">
                <a:solidFill>
                  <a:srgbClr val="0000FF"/>
                </a:solidFill>
                <a:sym typeface="Wingdings" panose="05000000000000000000" pitchFamily="2" charset="2"/>
                <a:hlinkClick r:id="rId2" action="ppaction://hlinkfile"/>
              </a:rPr>
              <a:t>Tài</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liệu</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đặc</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tả</a:t>
            </a:r>
            <a:r>
              <a:rPr lang="en-US" sz="1800" i="1" dirty="0" smtClean="0">
                <a:solidFill>
                  <a:srgbClr val="0000FF"/>
                </a:solidFill>
                <a:sym typeface="Wingdings" panose="05000000000000000000" pitchFamily="2" charset="2"/>
                <a:hlinkClick r:id="rId2" action="ppaction://hlinkfile"/>
              </a:rPr>
              <a:t> </a:t>
            </a:r>
            <a:r>
              <a:rPr lang="en-US" sz="1800" i="1" dirty="0" err="1" smtClean="0">
                <a:solidFill>
                  <a:srgbClr val="0000FF"/>
                </a:solidFill>
                <a:sym typeface="Wingdings" panose="05000000000000000000" pitchFamily="2" charset="2"/>
                <a:hlinkClick r:id="rId2" action="ppaction://hlinkfile"/>
              </a:rPr>
              <a:t>yêu</a:t>
            </a:r>
            <a:r>
              <a:rPr lang="en-US" sz="1800" i="1" dirty="0" smtClean="0">
                <a:solidFill>
                  <a:srgbClr val="0000FF"/>
                </a:solidFill>
                <a:sym typeface="Wingdings" panose="05000000000000000000" pitchFamily="2" charset="2"/>
                <a:hlinkClick r:id="rId2" action="ppaction://hlinkfile"/>
              </a:rPr>
              <a:t> cầu-01.docx</a:t>
            </a:r>
            <a:endParaRPr lang="en-US" sz="1800" i="1" dirty="0" smtClean="0">
              <a:solidFill>
                <a:srgbClr val="0000FF"/>
              </a:solidFill>
              <a:sym typeface="Wingdings" panose="05000000000000000000" pitchFamily="2" charset="2"/>
            </a:endParaRPr>
          </a:p>
          <a:p>
            <a:pPr marL="0" indent="0" algn="just">
              <a:buNone/>
            </a:pPr>
            <a:r>
              <a:rPr lang="en-US" sz="1800" i="1" dirty="0">
                <a:solidFill>
                  <a:srgbClr val="0000FF"/>
                </a:solidFill>
                <a:sym typeface="Wingdings" panose="05000000000000000000" pitchFamily="2" charset="2"/>
              </a:rPr>
              <a:t>	</a:t>
            </a:r>
            <a:r>
              <a:rPr lang="en-US" sz="1800" i="1" dirty="0" smtClean="0">
                <a:solidFill>
                  <a:srgbClr val="0000FF"/>
                </a:solidFill>
                <a:sym typeface="Wingdings" panose="05000000000000000000" pitchFamily="2" charset="2"/>
                <a:hlinkClick r:id="rId3" action="ppaction://hlinkfile"/>
              </a:rPr>
              <a:t>Example - </a:t>
            </a:r>
            <a:r>
              <a:rPr lang="en-US" sz="1800" i="1" dirty="0" err="1" smtClean="0">
                <a:solidFill>
                  <a:srgbClr val="0000FF"/>
                </a:solidFill>
                <a:sym typeface="Wingdings" panose="05000000000000000000" pitchFamily="2" charset="2"/>
                <a:hlinkClick r:id="rId3" action="ppaction://hlinkfile"/>
              </a:rPr>
              <a:t>Tài</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liệu</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đặc</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tả</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yêu</a:t>
            </a:r>
            <a:r>
              <a:rPr lang="en-US" sz="1800" i="1" dirty="0" smtClean="0">
                <a:solidFill>
                  <a:srgbClr val="0000FF"/>
                </a:solidFill>
                <a:sym typeface="Wingdings" panose="05000000000000000000" pitchFamily="2" charset="2"/>
                <a:hlinkClick r:id="rId3" action="ppaction://hlinkfile"/>
              </a:rPr>
              <a:t> </a:t>
            </a:r>
            <a:r>
              <a:rPr lang="en-US" sz="1800" i="1" dirty="0" err="1" smtClean="0">
                <a:solidFill>
                  <a:srgbClr val="0000FF"/>
                </a:solidFill>
                <a:sym typeface="Wingdings" panose="05000000000000000000" pitchFamily="2" charset="2"/>
                <a:hlinkClick r:id="rId3" action="ppaction://hlinkfile"/>
              </a:rPr>
              <a:t>cầu</a:t>
            </a:r>
            <a:r>
              <a:rPr lang="en-US" sz="1800" i="1" dirty="0" smtClean="0">
                <a:solidFill>
                  <a:srgbClr val="0000FF"/>
                </a:solidFill>
                <a:sym typeface="Wingdings" panose="05000000000000000000" pitchFamily="2" charset="2"/>
                <a:hlinkClick r:id="rId3" action="ppaction://hlinkfile"/>
              </a:rPr>
              <a:t> - 01.docx</a:t>
            </a:r>
            <a:endParaRPr lang="en-US" sz="1800" i="1" dirty="0" smtClean="0">
              <a:solidFill>
                <a:srgbClr val="0000FF"/>
              </a:solidFill>
              <a:sym typeface="Wingdings" panose="05000000000000000000" pitchFamily="2" charset="2"/>
            </a:endParaRPr>
          </a:p>
          <a:p>
            <a:pPr marL="0" indent="0" algn="just">
              <a:buNone/>
            </a:pPr>
            <a:r>
              <a:rPr lang="en-US" sz="2400" i="1" dirty="0" smtClean="0">
                <a:solidFill>
                  <a:srgbClr val="0000FF"/>
                </a:solidFill>
                <a:latin typeface="Calibri" pitchFamily="34" charset="0"/>
                <a:cs typeface="Calibri" pitchFamily="34" charset="0"/>
                <a:sym typeface="Wingdings" pitchFamily="2" charset="2"/>
              </a:rPr>
              <a:t>	</a:t>
            </a:r>
            <a:r>
              <a:rPr lang="en-US" sz="2400" i="1" dirty="0">
                <a:solidFill>
                  <a:srgbClr val="0000FF"/>
                </a:solidFill>
                <a:latin typeface="Calibri" pitchFamily="34" charset="0"/>
                <a:cs typeface="Calibri" pitchFamily="34" charset="0"/>
                <a:sym typeface="Wingdings" pitchFamily="2" charset="2"/>
              </a:rPr>
              <a:t>	</a:t>
            </a:r>
            <a:r>
              <a:rPr lang="en-US" sz="2400" i="1" dirty="0" err="1">
                <a:solidFill>
                  <a:srgbClr val="0000FF"/>
                </a:solidFill>
                <a:sym typeface="Wingdings" pitchFamily="2" charset="2"/>
              </a:rPr>
              <a:t>Kế</a:t>
            </a:r>
            <a:r>
              <a:rPr lang="en-US" sz="2400" i="1" dirty="0">
                <a:solidFill>
                  <a:srgbClr val="0000FF"/>
                </a:solidFill>
                <a:sym typeface="Wingdings" pitchFamily="2" charset="2"/>
              </a:rPr>
              <a:t> </a:t>
            </a:r>
            <a:r>
              <a:rPr lang="en-US" sz="2400" i="1" dirty="0" err="1">
                <a:solidFill>
                  <a:srgbClr val="0000FF"/>
                </a:solidFill>
                <a:sym typeface="Wingdings" pitchFamily="2" charset="2"/>
              </a:rPr>
              <a:t>hoạch</a:t>
            </a:r>
            <a:r>
              <a:rPr lang="en-US" sz="2400" i="1" dirty="0">
                <a:solidFill>
                  <a:srgbClr val="0000FF"/>
                </a:solidFill>
                <a:sym typeface="Wingdings" pitchFamily="2" charset="2"/>
              </a:rPr>
              <a:t> </a:t>
            </a:r>
            <a:r>
              <a:rPr lang="en-US" sz="2400" i="1" dirty="0" err="1">
                <a:solidFill>
                  <a:srgbClr val="0000FF"/>
                </a:solidFill>
                <a:sym typeface="Wingdings" pitchFamily="2" charset="2"/>
              </a:rPr>
              <a:t>quản</a:t>
            </a:r>
            <a:r>
              <a:rPr lang="en-US" sz="2400" i="1" dirty="0">
                <a:solidFill>
                  <a:srgbClr val="0000FF"/>
                </a:solidFill>
                <a:sym typeface="Wingdings" pitchFamily="2" charset="2"/>
              </a:rPr>
              <a:t> </a:t>
            </a:r>
            <a:r>
              <a:rPr lang="en-US" sz="2400" i="1" dirty="0" err="1">
                <a:solidFill>
                  <a:srgbClr val="0000FF"/>
                </a:solidFill>
                <a:sym typeface="Wingdings" pitchFamily="2" charset="2"/>
              </a:rPr>
              <a:t>lý</a:t>
            </a:r>
            <a:r>
              <a:rPr lang="en-US" sz="2400" i="1" dirty="0">
                <a:solidFill>
                  <a:srgbClr val="0000FF"/>
                </a:solidFill>
                <a:sym typeface="Wingdings" pitchFamily="2" charset="2"/>
              </a:rPr>
              <a:t> </a:t>
            </a:r>
            <a:r>
              <a:rPr lang="en-US" sz="2400" i="1" dirty="0" err="1">
                <a:solidFill>
                  <a:srgbClr val="0000FF"/>
                </a:solidFill>
                <a:sym typeface="Wingdings" pitchFamily="2" charset="2"/>
              </a:rPr>
              <a:t>dự</a:t>
            </a:r>
            <a:r>
              <a:rPr lang="en-US" sz="2400" i="1" dirty="0">
                <a:solidFill>
                  <a:srgbClr val="0000FF"/>
                </a:solidFill>
                <a:sym typeface="Wingdings" pitchFamily="2" charset="2"/>
              </a:rPr>
              <a:t> </a:t>
            </a:r>
            <a:r>
              <a:rPr lang="en-US" sz="2400" i="1" dirty="0" err="1">
                <a:solidFill>
                  <a:srgbClr val="0000FF"/>
                </a:solidFill>
                <a:sym typeface="Wingdings" pitchFamily="2" charset="2"/>
              </a:rPr>
              <a:t>án</a:t>
            </a:r>
            <a:r>
              <a:rPr lang="en-US" sz="2400" i="1" dirty="0">
                <a:solidFill>
                  <a:srgbClr val="0000FF"/>
                </a:solidFill>
                <a:sym typeface="Wingdings" pitchFamily="2" charset="2"/>
              </a:rPr>
              <a:t>:</a:t>
            </a:r>
          </a:p>
          <a:p>
            <a:pPr marL="0" indent="0" algn="just">
              <a:buNone/>
            </a:pPr>
            <a:r>
              <a:rPr lang="en-US" sz="1800" i="1" dirty="0">
                <a:solidFill>
                  <a:srgbClr val="0000FF"/>
                </a:solidFill>
                <a:latin typeface="Calibri" pitchFamily="34" charset="0"/>
                <a:cs typeface="Calibri" pitchFamily="34" charset="0"/>
                <a:sym typeface="Wingdings" pitchFamily="2" charset="2"/>
              </a:rPr>
              <a:t>	</a:t>
            </a:r>
            <a:r>
              <a:rPr lang="en-US" sz="1800" i="1" dirty="0">
                <a:solidFill>
                  <a:srgbClr val="0000FF"/>
                </a:solidFill>
                <a:latin typeface="Calibri" pitchFamily="34" charset="0"/>
                <a:cs typeface="Calibri" pitchFamily="34" charset="0"/>
                <a:sym typeface="Wingdings" pitchFamily="2" charset="2"/>
                <a:hlinkClick r:id="rId4" action="ppaction://hlinkfile"/>
              </a:rPr>
              <a:t>Template - Project Management Plan.docx</a:t>
            </a:r>
            <a:endParaRPr lang="en-US" sz="1800" i="1" dirty="0">
              <a:solidFill>
                <a:srgbClr val="0000FF"/>
              </a:solidFill>
              <a:latin typeface="Calibri" pitchFamily="34" charset="0"/>
              <a:cs typeface="Calibri" pitchFamily="34" charset="0"/>
              <a:sym typeface="Wingdings" pitchFamily="2" charset="2"/>
            </a:endParaRPr>
          </a:p>
          <a:p>
            <a:pPr marL="0" indent="0" algn="just">
              <a:buNone/>
            </a:pPr>
            <a:r>
              <a:rPr lang="en-US" sz="1800" i="1" dirty="0">
                <a:solidFill>
                  <a:srgbClr val="0000FF"/>
                </a:solidFill>
                <a:latin typeface="Calibri" pitchFamily="34" charset="0"/>
                <a:cs typeface="Calibri" pitchFamily="34" charset="0"/>
                <a:sym typeface="Wingdings" pitchFamily="2" charset="2"/>
              </a:rPr>
              <a:t>	</a:t>
            </a:r>
            <a:r>
              <a:rPr lang="en-US" sz="2400" b="1" i="1" dirty="0">
                <a:solidFill>
                  <a:srgbClr val="0000FF"/>
                </a:solidFill>
                <a:sym typeface="Wingdings" pitchFamily="2" charset="2"/>
              </a:rPr>
              <a:t>	</a:t>
            </a:r>
            <a:r>
              <a:rPr lang="en-US" sz="2400" i="1" dirty="0" err="1">
                <a:solidFill>
                  <a:srgbClr val="0000FF"/>
                </a:solidFill>
                <a:sym typeface="Wingdings" pitchFamily="2" charset="2"/>
              </a:rPr>
              <a:t>Kế</a:t>
            </a:r>
            <a:r>
              <a:rPr lang="en-US" sz="2400" i="1" dirty="0">
                <a:solidFill>
                  <a:srgbClr val="0000FF"/>
                </a:solidFill>
                <a:sym typeface="Wingdings" pitchFamily="2" charset="2"/>
              </a:rPr>
              <a:t> </a:t>
            </a:r>
            <a:r>
              <a:rPr lang="en-US" sz="2400" i="1" dirty="0" err="1">
                <a:solidFill>
                  <a:srgbClr val="0000FF"/>
                </a:solidFill>
                <a:sym typeface="Wingdings" pitchFamily="2" charset="2"/>
              </a:rPr>
              <a:t>hoạch</a:t>
            </a:r>
            <a:r>
              <a:rPr lang="en-US" sz="2400" i="1" dirty="0">
                <a:solidFill>
                  <a:srgbClr val="0000FF"/>
                </a:solidFill>
                <a:sym typeface="Wingdings" pitchFamily="2" charset="2"/>
              </a:rPr>
              <a:t> </a:t>
            </a:r>
            <a:r>
              <a:rPr lang="en-US" sz="2400" i="1" dirty="0" err="1">
                <a:solidFill>
                  <a:srgbClr val="0000FF"/>
                </a:solidFill>
                <a:sym typeface="Wingdings" pitchFamily="2" charset="2"/>
              </a:rPr>
              <a:t>kiểm</a:t>
            </a:r>
            <a:r>
              <a:rPr lang="en-US" sz="2400" i="1" dirty="0">
                <a:solidFill>
                  <a:srgbClr val="0000FF"/>
                </a:solidFill>
                <a:sym typeface="Wingdings" pitchFamily="2" charset="2"/>
              </a:rPr>
              <a:t> </a:t>
            </a:r>
            <a:r>
              <a:rPr lang="en-US" sz="2400" i="1" dirty="0" err="1">
                <a:solidFill>
                  <a:srgbClr val="0000FF"/>
                </a:solidFill>
                <a:sym typeface="Wingdings" pitchFamily="2" charset="2"/>
              </a:rPr>
              <a:t>thử</a:t>
            </a:r>
            <a:r>
              <a:rPr lang="en-US" sz="2400" i="1" dirty="0">
                <a:solidFill>
                  <a:srgbClr val="0000FF"/>
                </a:solidFill>
                <a:sym typeface="Wingdings" pitchFamily="2" charset="2"/>
              </a:rPr>
              <a:t> </a:t>
            </a:r>
            <a:r>
              <a:rPr lang="en-US" sz="2400" i="1" dirty="0" err="1">
                <a:solidFill>
                  <a:srgbClr val="0000FF"/>
                </a:solidFill>
                <a:sym typeface="Wingdings" pitchFamily="2" charset="2"/>
              </a:rPr>
              <a:t>phần</a:t>
            </a:r>
            <a:r>
              <a:rPr lang="en-US" sz="2400" i="1" dirty="0">
                <a:solidFill>
                  <a:srgbClr val="0000FF"/>
                </a:solidFill>
                <a:sym typeface="Wingdings" pitchFamily="2" charset="2"/>
              </a:rPr>
              <a:t> </a:t>
            </a:r>
            <a:r>
              <a:rPr lang="en-US" sz="2400" i="1" dirty="0" err="1">
                <a:solidFill>
                  <a:srgbClr val="0000FF"/>
                </a:solidFill>
                <a:sym typeface="Wingdings" pitchFamily="2" charset="2"/>
              </a:rPr>
              <a:t>mềm</a:t>
            </a:r>
            <a:r>
              <a:rPr lang="en-US" sz="2400" i="1" dirty="0">
                <a:solidFill>
                  <a:srgbClr val="0000FF"/>
                </a:solidFill>
                <a:sym typeface="Wingdings" pitchFamily="2" charset="2"/>
              </a:rPr>
              <a:t>:</a:t>
            </a:r>
          </a:p>
          <a:p>
            <a:pPr marL="0" indent="0" algn="just">
              <a:buNone/>
            </a:pPr>
            <a:r>
              <a:rPr lang="en-US" sz="1800" i="1" dirty="0">
                <a:solidFill>
                  <a:srgbClr val="0000FF"/>
                </a:solidFill>
                <a:latin typeface="Calibri" pitchFamily="34" charset="0"/>
                <a:cs typeface="Calibri" pitchFamily="34" charset="0"/>
                <a:sym typeface="Wingdings" pitchFamily="2" charset="2"/>
              </a:rPr>
              <a:t>	</a:t>
            </a:r>
            <a:r>
              <a:rPr lang="en-US" sz="1800" i="1" dirty="0">
                <a:solidFill>
                  <a:srgbClr val="0000FF"/>
                </a:solidFill>
                <a:latin typeface="Calibri" pitchFamily="34" charset="0"/>
                <a:cs typeface="Calibri" pitchFamily="34" charset="0"/>
                <a:sym typeface="Wingdings" pitchFamily="2" charset="2"/>
                <a:hlinkClick r:id="rId5" action="ppaction://hlinkfile"/>
              </a:rPr>
              <a:t>Template - Test </a:t>
            </a:r>
            <a:r>
              <a:rPr lang="en-US" sz="1800" i="1" dirty="0" smtClean="0">
                <a:solidFill>
                  <a:srgbClr val="0000FF"/>
                </a:solidFill>
                <a:latin typeface="Calibri" pitchFamily="34" charset="0"/>
                <a:cs typeface="Calibri" pitchFamily="34" charset="0"/>
                <a:sym typeface="Wingdings" pitchFamily="2" charset="2"/>
                <a:hlinkClick r:id="rId5" action="ppaction://hlinkfile"/>
              </a:rPr>
              <a:t>Plan.docx</a:t>
            </a:r>
            <a:endParaRPr lang="en-US" sz="1800" i="1" dirty="0" smtClean="0">
              <a:solidFill>
                <a:srgbClr val="0000FF"/>
              </a:solidFill>
            </a:endParaRPr>
          </a:p>
          <a:p>
            <a:pPr algn="just"/>
            <a:r>
              <a:rPr lang="en-US" dirty="0" smtClean="0"/>
              <a:t>Output: </a:t>
            </a:r>
          </a:p>
          <a:p>
            <a:pPr lvl="2" algn="just">
              <a:buFont typeface="Wingdings" panose="05000000000000000000" pitchFamily="2" charset="2"/>
              <a:buChar char="è"/>
            </a:pPr>
            <a:r>
              <a:rPr lang="en-US" i="1" dirty="0" smtClean="0">
                <a:solidFill>
                  <a:srgbClr val="0000FF"/>
                </a:solidFill>
                <a:sym typeface="Wingdings" panose="05000000000000000000" pitchFamily="2" charset="2"/>
              </a:rPr>
              <a:t> 	</a:t>
            </a:r>
            <a:r>
              <a:rPr lang="en-US" i="1" dirty="0" err="1" smtClean="0">
                <a:solidFill>
                  <a:srgbClr val="0000FF"/>
                </a:solidFill>
                <a:sym typeface="Wingdings" panose="05000000000000000000" pitchFamily="2" charset="2"/>
              </a:rPr>
              <a:t>Báo</a:t>
            </a:r>
            <a:r>
              <a:rPr lang="en-US" i="1" dirty="0" smtClean="0">
                <a:solidFill>
                  <a:srgbClr val="0000FF"/>
                </a:solidFill>
                <a:sym typeface="Wingdings" panose="05000000000000000000" pitchFamily="2" charset="2"/>
              </a:rPr>
              <a:t> </a:t>
            </a:r>
            <a:r>
              <a:rPr lang="en-US" i="1" dirty="0" err="1">
                <a:solidFill>
                  <a:srgbClr val="0000FF"/>
                </a:solidFill>
                <a:sym typeface="Wingdings" panose="05000000000000000000" pitchFamily="2" charset="2"/>
              </a:rPr>
              <a:t>cáo</a:t>
            </a:r>
            <a:r>
              <a:rPr lang="en-US" i="1" dirty="0">
                <a:solidFill>
                  <a:srgbClr val="0000FF"/>
                </a:solidFill>
                <a:sym typeface="Wingdings" panose="05000000000000000000" pitchFamily="2" charset="2"/>
              </a:rPr>
              <a:t> </a:t>
            </a:r>
            <a:r>
              <a:rPr lang="en-US" i="1" dirty="0" err="1">
                <a:solidFill>
                  <a:srgbClr val="0000FF"/>
                </a:solidFill>
                <a:sym typeface="Wingdings" panose="05000000000000000000" pitchFamily="2" charset="2"/>
              </a:rPr>
              <a:t>tiến</a:t>
            </a:r>
            <a:r>
              <a:rPr lang="en-US" i="1" dirty="0">
                <a:solidFill>
                  <a:srgbClr val="0000FF"/>
                </a:solidFill>
                <a:sym typeface="Wingdings" panose="05000000000000000000" pitchFamily="2" charset="2"/>
              </a:rPr>
              <a:t> </a:t>
            </a:r>
            <a:r>
              <a:rPr lang="en-US" i="1" dirty="0" err="1" smtClean="0">
                <a:solidFill>
                  <a:srgbClr val="0000FF"/>
                </a:solidFill>
                <a:sym typeface="Wingdings" panose="05000000000000000000" pitchFamily="2" charset="2"/>
              </a:rPr>
              <a:t>độ</a:t>
            </a:r>
            <a:endParaRPr lang="en-US" i="1" dirty="0" smtClean="0">
              <a:solidFill>
                <a:srgbClr val="0000FF"/>
              </a:solidFill>
              <a:sym typeface="Wingdings" panose="05000000000000000000" pitchFamily="2" charset="2"/>
            </a:endParaRPr>
          </a:p>
          <a:p>
            <a:pPr marL="914400" lvl="2" indent="0" algn="just">
              <a:buNone/>
            </a:pPr>
            <a:r>
              <a:rPr lang="en-US" i="1" dirty="0" smtClean="0">
                <a:solidFill>
                  <a:srgbClr val="0000FF"/>
                </a:solidFill>
                <a:sym typeface="Wingdings" panose="05000000000000000000" pitchFamily="2" charset="2"/>
              </a:rPr>
              <a:t>	</a:t>
            </a:r>
            <a:r>
              <a:rPr lang="en-US" sz="2000" i="1" dirty="0" smtClean="0">
                <a:solidFill>
                  <a:srgbClr val="0000FF"/>
                </a:solidFill>
                <a:sym typeface="Wingdings" panose="05000000000000000000" pitchFamily="2" charset="2"/>
              </a:rPr>
              <a:t>Grant chart – Burn down, Burn up</a:t>
            </a:r>
            <a:endParaRPr lang="en-US" sz="2000" i="1" dirty="0">
              <a:solidFill>
                <a:srgbClr val="0000FF"/>
              </a:solidFill>
            </a:endParaRPr>
          </a:p>
          <a:p>
            <a:pPr marL="0" indent="0" algn="just">
              <a:buNone/>
            </a:pPr>
            <a:endParaRPr lang="en-US" sz="1800" i="1" dirty="0" smtClean="0">
              <a:solidFill>
                <a:srgbClr val="0000FF"/>
              </a:solidFill>
              <a:latin typeface="Calibri" pitchFamily="34" charset="0"/>
              <a:cs typeface="Calibri" pitchFamily="34" charset="0"/>
            </a:endParaRPr>
          </a:p>
        </p:txBody>
      </p:sp>
      <p:pic>
        <p:nvPicPr>
          <p:cNvPr id="4" name="Picture 5"/>
          <p:cNvPicPr>
            <a:picLocks noChangeAspect="1" noChangeArrowheads="1"/>
          </p:cNvPicPr>
          <p:nvPr/>
        </p:nvPicPr>
        <p:blipFill>
          <a:blip r:embed="rId6"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19</a:t>
            </a:fld>
            <a:endParaRPr lang="en-US" dirty="0"/>
          </a:p>
        </p:txBody>
      </p:sp>
    </p:spTree>
    <p:extLst>
      <p:ext uri="{BB962C8B-B14F-4D97-AF65-F5344CB8AC3E}">
        <p14:creationId xmlns:p14="http://schemas.microsoft.com/office/powerpoint/2010/main" val="23210366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err="1" smtClean="0"/>
              <a:t>Ví</a:t>
            </a:r>
            <a:r>
              <a:rPr lang="en-US" dirty="0" smtClean="0"/>
              <a:t> </a:t>
            </a:r>
            <a:r>
              <a:rPr lang="en-US" dirty="0" err="1" smtClean="0"/>
              <a:t>dụ</a:t>
            </a:r>
            <a:r>
              <a:rPr lang="en-US" dirty="0" smtClean="0"/>
              <a:t> </a:t>
            </a:r>
            <a:r>
              <a:rPr lang="en-US" dirty="0" err="1" smtClean="0"/>
              <a:t>về</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smtClean="0"/>
              <a:t> </a:t>
            </a:r>
            <a:r>
              <a:rPr lang="en-US" dirty="0" err="1" smtClean="0"/>
              <a:t>theo</a:t>
            </a:r>
            <a:r>
              <a:rPr lang="en-US" dirty="0" smtClean="0"/>
              <a:t> Scrum (2 weeks per sprint)</a:t>
            </a:r>
            <a:endParaRPr lang="en-US" dirty="0"/>
          </a:p>
          <a:p>
            <a:pPr lvl="1" algn="just"/>
            <a:r>
              <a:rPr lang="en-US" dirty="0" smtClean="0"/>
              <a:t>Input: Product Backlog – </a:t>
            </a:r>
            <a:r>
              <a:rPr lang="en-US" dirty="0" err="1" smtClean="0"/>
              <a:t>danh</a:t>
            </a:r>
            <a:r>
              <a:rPr lang="en-US" dirty="0" smtClean="0"/>
              <a:t> </a:t>
            </a:r>
            <a:r>
              <a:rPr lang="en-US" dirty="0" err="1" smtClean="0"/>
              <a:t>sách</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của</a:t>
            </a:r>
            <a:r>
              <a:rPr lang="en-US" dirty="0" smtClean="0"/>
              <a:t> </a:t>
            </a:r>
            <a:r>
              <a:rPr lang="en-US" dirty="0" err="1" smtClean="0"/>
              <a:t>dự</a:t>
            </a:r>
            <a:r>
              <a:rPr lang="en-US" dirty="0" smtClean="0"/>
              <a:t> </a:t>
            </a:r>
            <a:r>
              <a:rPr lang="en-US" dirty="0" err="1" smtClean="0"/>
              <a:t>án</a:t>
            </a:r>
            <a:r>
              <a:rPr lang="en-US" dirty="0" smtClean="0"/>
              <a:t>.</a:t>
            </a:r>
          </a:p>
          <a:p>
            <a:pPr lvl="2" algn="just"/>
            <a:r>
              <a:rPr lang="en-US" dirty="0" err="1" smtClean="0"/>
              <a:t>Phân</a:t>
            </a:r>
            <a:r>
              <a:rPr lang="en-US" dirty="0" smtClean="0"/>
              <a:t> </a:t>
            </a:r>
            <a:r>
              <a:rPr lang="en-US" dirty="0" err="1" smtClean="0"/>
              <a:t>loại</a:t>
            </a:r>
            <a:r>
              <a:rPr lang="en-US" dirty="0" smtClean="0"/>
              <a:t>, </a:t>
            </a:r>
            <a:r>
              <a:rPr lang="en-US" dirty="0" err="1" smtClean="0"/>
              <a:t>đánh</a:t>
            </a:r>
            <a:r>
              <a:rPr lang="en-US" dirty="0" smtClean="0"/>
              <a:t> </a:t>
            </a:r>
            <a:r>
              <a:rPr lang="en-US" dirty="0" err="1" smtClean="0"/>
              <a:t>giá</a:t>
            </a:r>
            <a:r>
              <a:rPr lang="en-US" dirty="0" smtClean="0"/>
              <a:t> </a:t>
            </a:r>
            <a:r>
              <a:rPr lang="en-US" dirty="0" err="1" smtClean="0"/>
              <a:t>và</a:t>
            </a:r>
            <a:r>
              <a:rPr lang="en-US" dirty="0" smtClean="0"/>
              <a:t> </a:t>
            </a:r>
            <a:r>
              <a:rPr lang="en-US" dirty="0" err="1" smtClean="0"/>
              <a:t>sắp</a:t>
            </a:r>
            <a:r>
              <a:rPr lang="en-US" dirty="0" smtClean="0"/>
              <a:t> </a:t>
            </a:r>
            <a:r>
              <a:rPr lang="en-US" dirty="0" err="1" smtClean="0"/>
              <a:t>xếp</a:t>
            </a:r>
            <a:r>
              <a:rPr lang="en-US" dirty="0" smtClean="0"/>
              <a:t> </a:t>
            </a:r>
            <a:r>
              <a:rPr lang="en-US" dirty="0" err="1" smtClean="0"/>
              <a:t>độ</a:t>
            </a:r>
            <a:r>
              <a:rPr lang="en-US" dirty="0" smtClean="0"/>
              <a:t> </a:t>
            </a:r>
            <a:r>
              <a:rPr lang="en-US" dirty="0" err="1" smtClean="0"/>
              <a:t>ưu</a:t>
            </a:r>
            <a:r>
              <a:rPr lang="en-US" dirty="0" smtClean="0"/>
              <a:t> </a:t>
            </a:r>
            <a:r>
              <a:rPr lang="en-US" dirty="0" err="1" smtClean="0"/>
              <a:t>tiên</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a:t>
            </a:r>
          </a:p>
          <a:p>
            <a:pPr lvl="1" algn="just"/>
            <a:r>
              <a:rPr lang="en-US" dirty="0" err="1" smtClean="0"/>
              <a:t>Các</a:t>
            </a:r>
            <a:r>
              <a:rPr lang="en-US" dirty="0" smtClean="0"/>
              <a:t> </a:t>
            </a:r>
            <a:r>
              <a:rPr lang="en-US" dirty="0" err="1" smtClean="0"/>
              <a:t>bước</a:t>
            </a:r>
            <a:r>
              <a:rPr lang="en-US" dirty="0" smtClean="0"/>
              <a:t> </a:t>
            </a:r>
            <a:r>
              <a:rPr lang="en-US" dirty="0" err="1" smtClean="0"/>
              <a:t>thực</a:t>
            </a:r>
            <a:r>
              <a:rPr lang="en-US" dirty="0" smtClean="0"/>
              <a:t> </a:t>
            </a:r>
            <a:r>
              <a:rPr lang="en-US" dirty="0" err="1" smtClean="0"/>
              <a:t>hiện</a:t>
            </a:r>
            <a:endParaRPr lang="en-US" dirty="0" smtClean="0"/>
          </a:p>
          <a:p>
            <a:pPr lvl="2" algn="just"/>
            <a:r>
              <a:rPr lang="en-US" dirty="0" smtClean="0"/>
              <a:t>Sprint planning: </a:t>
            </a:r>
          </a:p>
          <a:p>
            <a:pPr lvl="3" algn="just"/>
            <a:r>
              <a:rPr lang="en-US" dirty="0" err="1"/>
              <a:t>Ư</a:t>
            </a:r>
            <a:r>
              <a:rPr lang="en-US" dirty="0" err="1" smtClean="0"/>
              <a:t>ớc</a:t>
            </a:r>
            <a:r>
              <a:rPr lang="en-US" dirty="0" smtClean="0"/>
              <a:t> </a:t>
            </a:r>
            <a:r>
              <a:rPr lang="en-US" dirty="0" err="1"/>
              <a:t>lượng</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smtClean="0"/>
              <a:t>và</a:t>
            </a:r>
            <a:r>
              <a:rPr lang="en-US" dirty="0" smtClean="0"/>
              <a:t> </a:t>
            </a:r>
            <a:r>
              <a:rPr lang="en-US" dirty="0" err="1" smtClean="0"/>
              <a:t>đưa</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được</a:t>
            </a:r>
            <a:r>
              <a:rPr lang="en-US" dirty="0" smtClean="0"/>
              <a:t> </a:t>
            </a:r>
            <a:r>
              <a:rPr lang="en-US" dirty="0" err="1" smtClean="0"/>
              <a:t>chấp</a:t>
            </a:r>
            <a:r>
              <a:rPr lang="en-US" dirty="0" smtClean="0"/>
              <a:t> </a:t>
            </a:r>
            <a:r>
              <a:rPr lang="en-US" dirty="0" err="1" smtClean="0"/>
              <a:t>thuận</a:t>
            </a:r>
            <a:r>
              <a:rPr lang="en-US" dirty="0" smtClean="0"/>
              <a:t> </a:t>
            </a:r>
            <a:r>
              <a:rPr lang="en-US" dirty="0" err="1" smtClean="0"/>
              <a:t>vào</a:t>
            </a:r>
            <a:r>
              <a:rPr lang="en-US" dirty="0" smtClean="0"/>
              <a:t> Sprint Backlog </a:t>
            </a:r>
            <a:r>
              <a:rPr lang="en-US" dirty="0" err="1" smtClean="0"/>
              <a:t>cùng</a:t>
            </a:r>
            <a:r>
              <a:rPr lang="en-US" dirty="0" smtClean="0"/>
              <a:t> </a:t>
            </a:r>
            <a:r>
              <a:rPr lang="en-US" dirty="0" err="1" smtClean="0"/>
              <a:t>toàn</a:t>
            </a:r>
            <a:r>
              <a:rPr lang="en-US" dirty="0" smtClean="0"/>
              <a:t> </a:t>
            </a:r>
            <a:r>
              <a:rPr lang="en-US" dirty="0" err="1" smtClean="0"/>
              <a:t>đội</a:t>
            </a:r>
            <a:r>
              <a:rPr lang="en-US" dirty="0" smtClean="0"/>
              <a:t>.</a:t>
            </a:r>
          </a:p>
          <a:p>
            <a:pPr lvl="3" algn="just"/>
            <a:r>
              <a:rPr lang="en-US" dirty="0" err="1" smtClean="0"/>
              <a:t>Xác</a:t>
            </a:r>
            <a:r>
              <a:rPr lang="en-US" dirty="0" smtClean="0"/>
              <a:t> </a:t>
            </a:r>
            <a:r>
              <a:rPr lang="en-US" dirty="0" err="1" smtClean="0"/>
              <a:t>định</a:t>
            </a:r>
            <a:r>
              <a:rPr lang="en-US" dirty="0" smtClean="0"/>
              <a:t> </a:t>
            </a:r>
            <a:r>
              <a:rPr lang="en-US" dirty="0" err="1" smtClean="0"/>
              <a:t>mục</a:t>
            </a:r>
            <a:r>
              <a:rPr lang="en-US" dirty="0" smtClean="0"/>
              <a:t> </a:t>
            </a:r>
            <a:r>
              <a:rPr lang="en-US" dirty="0" err="1" smtClean="0"/>
              <a:t>tiêu</a:t>
            </a:r>
            <a:r>
              <a:rPr lang="en-US" dirty="0" smtClean="0"/>
              <a:t> </a:t>
            </a:r>
            <a:r>
              <a:rPr lang="en-US" dirty="0" err="1" smtClean="0"/>
              <a:t>của</a:t>
            </a:r>
            <a:r>
              <a:rPr lang="en-US" dirty="0" smtClean="0"/>
              <a:t> Sprint (DOD – Definition of Done)</a:t>
            </a:r>
          </a:p>
          <a:p>
            <a:pPr lvl="3" algn="just"/>
            <a:r>
              <a:rPr lang="en-US" dirty="0" smtClean="0"/>
              <a:t>Assign task </a:t>
            </a:r>
            <a:r>
              <a:rPr lang="en-US" dirty="0" err="1" smtClean="0"/>
              <a:t>cho</a:t>
            </a:r>
            <a:r>
              <a:rPr lang="en-US" dirty="0" smtClean="0"/>
              <a:t> </a:t>
            </a:r>
            <a:r>
              <a:rPr lang="en-US" dirty="0" err="1" smtClean="0"/>
              <a:t>các</a:t>
            </a:r>
            <a:r>
              <a:rPr lang="en-US" dirty="0" smtClean="0"/>
              <a:t> </a:t>
            </a:r>
            <a:r>
              <a:rPr lang="en-US" dirty="0" err="1" smtClean="0"/>
              <a:t>thành</a:t>
            </a:r>
            <a:r>
              <a:rPr lang="en-US" dirty="0" smtClean="0"/>
              <a:t> </a:t>
            </a:r>
            <a:r>
              <a:rPr lang="en-US" dirty="0" err="1" smtClean="0"/>
              <a:t>viên</a:t>
            </a:r>
            <a:r>
              <a:rPr lang="en-US" dirty="0" smtClean="0"/>
              <a:t> </a:t>
            </a:r>
            <a:r>
              <a:rPr lang="en-US" dirty="0" err="1" smtClean="0"/>
              <a:t>trong</a:t>
            </a:r>
            <a:r>
              <a:rPr lang="en-US" dirty="0" smtClean="0"/>
              <a:t> </a:t>
            </a:r>
            <a:r>
              <a:rPr lang="en-US" dirty="0" err="1" smtClean="0"/>
              <a:t>đội</a:t>
            </a:r>
            <a:endParaRPr lang="en-US" dirty="0" smtClean="0"/>
          </a:p>
          <a:p>
            <a:pPr lvl="2" algn="just"/>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20</a:t>
            </a:fld>
            <a:endParaRPr lang="en-US" dirty="0"/>
          </a:p>
        </p:txBody>
      </p:sp>
    </p:spTree>
    <p:extLst>
      <p:ext uri="{BB962C8B-B14F-4D97-AF65-F5344CB8AC3E}">
        <p14:creationId xmlns:p14="http://schemas.microsoft.com/office/powerpoint/2010/main" val="7714370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err="1" smtClean="0"/>
              <a:t>Ví</a:t>
            </a:r>
            <a:r>
              <a:rPr lang="en-US" dirty="0" smtClean="0"/>
              <a:t> </a:t>
            </a:r>
            <a:r>
              <a:rPr lang="en-US" dirty="0" err="1" smtClean="0"/>
              <a:t>dụ</a:t>
            </a:r>
            <a:r>
              <a:rPr lang="en-US" dirty="0" smtClean="0"/>
              <a:t> </a:t>
            </a:r>
            <a:r>
              <a:rPr lang="en-US" dirty="0" err="1" smtClean="0"/>
              <a:t>về</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smtClean="0"/>
              <a:t> </a:t>
            </a:r>
            <a:r>
              <a:rPr lang="en-US" dirty="0" err="1" smtClean="0"/>
              <a:t>theo</a:t>
            </a:r>
            <a:r>
              <a:rPr lang="en-US" dirty="0" smtClean="0"/>
              <a:t> Scrum (2 weeks per sprint)</a:t>
            </a:r>
            <a:endParaRPr lang="en-US" dirty="0"/>
          </a:p>
          <a:p>
            <a:pPr lvl="1" algn="just"/>
            <a:r>
              <a:rPr lang="en-US" dirty="0" smtClean="0"/>
              <a:t>Input: Product Backlog – </a:t>
            </a:r>
            <a:r>
              <a:rPr lang="en-US" dirty="0" err="1" smtClean="0"/>
              <a:t>danh</a:t>
            </a:r>
            <a:r>
              <a:rPr lang="en-US" dirty="0" smtClean="0"/>
              <a:t> </a:t>
            </a:r>
            <a:r>
              <a:rPr lang="en-US" dirty="0" err="1" smtClean="0"/>
              <a:t>sách</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của</a:t>
            </a:r>
            <a:r>
              <a:rPr lang="en-US" dirty="0" smtClean="0"/>
              <a:t> </a:t>
            </a:r>
            <a:r>
              <a:rPr lang="en-US" dirty="0" err="1" smtClean="0"/>
              <a:t>dự</a:t>
            </a:r>
            <a:r>
              <a:rPr lang="en-US" dirty="0" smtClean="0"/>
              <a:t> </a:t>
            </a:r>
            <a:r>
              <a:rPr lang="en-US" dirty="0" err="1" smtClean="0"/>
              <a:t>án</a:t>
            </a:r>
            <a:r>
              <a:rPr lang="en-US" dirty="0" smtClean="0"/>
              <a:t>.</a:t>
            </a:r>
          </a:p>
          <a:p>
            <a:pPr lvl="2" algn="just"/>
            <a:r>
              <a:rPr lang="en-US" dirty="0" err="1" smtClean="0"/>
              <a:t>Phân</a:t>
            </a:r>
            <a:r>
              <a:rPr lang="en-US" dirty="0" smtClean="0"/>
              <a:t> </a:t>
            </a:r>
            <a:r>
              <a:rPr lang="en-US" dirty="0" err="1" smtClean="0"/>
              <a:t>loại</a:t>
            </a:r>
            <a:r>
              <a:rPr lang="en-US" dirty="0" smtClean="0"/>
              <a:t>, </a:t>
            </a:r>
            <a:r>
              <a:rPr lang="en-US" dirty="0" err="1" smtClean="0"/>
              <a:t>đánh</a:t>
            </a:r>
            <a:r>
              <a:rPr lang="en-US" dirty="0" smtClean="0"/>
              <a:t> </a:t>
            </a:r>
            <a:r>
              <a:rPr lang="en-US" dirty="0" err="1" smtClean="0"/>
              <a:t>giá</a:t>
            </a:r>
            <a:r>
              <a:rPr lang="en-US" dirty="0" smtClean="0"/>
              <a:t> </a:t>
            </a:r>
            <a:r>
              <a:rPr lang="en-US" dirty="0" err="1" smtClean="0"/>
              <a:t>và</a:t>
            </a:r>
            <a:r>
              <a:rPr lang="en-US" dirty="0" smtClean="0"/>
              <a:t> </a:t>
            </a:r>
            <a:r>
              <a:rPr lang="en-US" dirty="0" err="1" smtClean="0"/>
              <a:t>sắp</a:t>
            </a:r>
            <a:r>
              <a:rPr lang="en-US" dirty="0" smtClean="0"/>
              <a:t> </a:t>
            </a:r>
            <a:r>
              <a:rPr lang="en-US" dirty="0" err="1" smtClean="0"/>
              <a:t>xếp</a:t>
            </a:r>
            <a:r>
              <a:rPr lang="en-US" dirty="0" smtClean="0"/>
              <a:t> </a:t>
            </a:r>
            <a:r>
              <a:rPr lang="en-US" dirty="0" err="1" smtClean="0"/>
              <a:t>độ</a:t>
            </a:r>
            <a:r>
              <a:rPr lang="en-US" dirty="0" smtClean="0"/>
              <a:t> </a:t>
            </a:r>
            <a:r>
              <a:rPr lang="en-US" dirty="0" err="1" smtClean="0"/>
              <a:t>ưu</a:t>
            </a:r>
            <a:r>
              <a:rPr lang="en-US" dirty="0" smtClean="0"/>
              <a:t> </a:t>
            </a:r>
            <a:r>
              <a:rPr lang="en-US" dirty="0" err="1" smtClean="0"/>
              <a:t>tiên</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a:t>
            </a:r>
          </a:p>
          <a:p>
            <a:pPr lvl="1" algn="just"/>
            <a:r>
              <a:rPr lang="en-US" dirty="0" err="1" smtClean="0"/>
              <a:t>Các</a:t>
            </a:r>
            <a:r>
              <a:rPr lang="en-US" dirty="0" smtClean="0"/>
              <a:t> </a:t>
            </a:r>
            <a:r>
              <a:rPr lang="en-US" dirty="0" err="1" smtClean="0"/>
              <a:t>bước</a:t>
            </a:r>
            <a:r>
              <a:rPr lang="en-US" dirty="0" smtClean="0"/>
              <a:t> </a:t>
            </a:r>
            <a:r>
              <a:rPr lang="en-US" dirty="0" err="1" smtClean="0"/>
              <a:t>thực</a:t>
            </a:r>
            <a:r>
              <a:rPr lang="en-US" dirty="0" smtClean="0"/>
              <a:t> </a:t>
            </a:r>
            <a:r>
              <a:rPr lang="en-US" dirty="0" err="1" smtClean="0"/>
              <a:t>hiện</a:t>
            </a:r>
            <a:endParaRPr lang="en-US" dirty="0" smtClean="0"/>
          </a:p>
          <a:p>
            <a:pPr lvl="2" algn="just"/>
            <a:r>
              <a:rPr lang="en-US" dirty="0" smtClean="0"/>
              <a:t>Sprint planning: </a:t>
            </a:r>
          </a:p>
          <a:p>
            <a:pPr lvl="3" algn="just"/>
            <a:r>
              <a:rPr lang="en-US" dirty="0" err="1"/>
              <a:t>Ư</a:t>
            </a:r>
            <a:r>
              <a:rPr lang="en-US" dirty="0" err="1" smtClean="0"/>
              <a:t>ớc</a:t>
            </a:r>
            <a:r>
              <a:rPr lang="en-US" dirty="0" smtClean="0"/>
              <a:t> </a:t>
            </a:r>
            <a:r>
              <a:rPr lang="en-US" dirty="0" err="1"/>
              <a:t>lượng</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smtClean="0"/>
              <a:t>và</a:t>
            </a:r>
            <a:r>
              <a:rPr lang="en-US" dirty="0" smtClean="0"/>
              <a:t> </a:t>
            </a:r>
            <a:r>
              <a:rPr lang="en-US" dirty="0" err="1" smtClean="0"/>
              <a:t>đưa</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được</a:t>
            </a:r>
            <a:r>
              <a:rPr lang="en-US" dirty="0" smtClean="0"/>
              <a:t> </a:t>
            </a:r>
            <a:r>
              <a:rPr lang="en-US" dirty="0" err="1" smtClean="0"/>
              <a:t>chấp</a:t>
            </a:r>
            <a:r>
              <a:rPr lang="en-US" dirty="0" smtClean="0"/>
              <a:t> </a:t>
            </a:r>
            <a:r>
              <a:rPr lang="en-US" dirty="0" err="1" smtClean="0"/>
              <a:t>thuận</a:t>
            </a:r>
            <a:r>
              <a:rPr lang="en-US" dirty="0" smtClean="0"/>
              <a:t> </a:t>
            </a:r>
            <a:r>
              <a:rPr lang="en-US" dirty="0" err="1" smtClean="0"/>
              <a:t>vào</a:t>
            </a:r>
            <a:r>
              <a:rPr lang="en-US" dirty="0" smtClean="0"/>
              <a:t> Sprint Backlog </a:t>
            </a:r>
            <a:r>
              <a:rPr lang="en-US" dirty="0" err="1" smtClean="0"/>
              <a:t>cùng</a:t>
            </a:r>
            <a:r>
              <a:rPr lang="en-US" dirty="0" smtClean="0"/>
              <a:t> </a:t>
            </a:r>
            <a:r>
              <a:rPr lang="en-US" dirty="0" err="1" smtClean="0"/>
              <a:t>toàn</a:t>
            </a:r>
            <a:r>
              <a:rPr lang="en-US" dirty="0" smtClean="0"/>
              <a:t> </a:t>
            </a:r>
            <a:r>
              <a:rPr lang="en-US" dirty="0" err="1" smtClean="0"/>
              <a:t>đội</a:t>
            </a:r>
            <a:r>
              <a:rPr lang="en-US" dirty="0" smtClean="0"/>
              <a:t>.</a:t>
            </a:r>
          </a:p>
          <a:p>
            <a:pPr lvl="3" algn="just"/>
            <a:r>
              <a:rPr lang="en-US" dirty="0" err="1" smtClean="0"/>
              <a:t>Xác</a:t>
            </a:r>
            <a:r>
              <a:rPr lang="en-US" dirty="0" smtClean="0"/>
              <a:t> </a:t>
            </a:r>
            <a:r>
              <a:rPr lang="en-US" dirty="0" err="1" smtClean="0"/>
              <a:t>định</a:t>
            </a:r>
            <a:r>
              <a:rPr lang="en-US" dirty="0" smtClean="0"/>
              <a:t> </a:t>
            </a:r>
            <a:r>
              <a:rPr lang="en-US" dirty="0" err="1" smtClean="0"/>
              <a:t>mục</a:t>
            </a:r>
            <a:r>
              <a:rPr lang="en-US" dirty="0" smtClean="0"/>
              <a:t> </a:t>
            </a:r>
            <a:r>
              <a:rPr lang="en-US" dirty="0" err="1" smtClean="0"/>
              <a:t>tiêu</a:t>
            </a:r>
            <a:r>
              <a:rPr lang="en-US" dirty="0" smtClean="0"/>
              <a:t> </a:t>
            </a:r>
            <a:r>
              <a:rPr lang="en-US" dirty="0" err="1" smtClean="0"/>
              <a:t>của</a:t>
            </a:r>
            <a:r>
              <a:rPr lang="en-US" dirty="0" smtClean="0"/>
              <a:t> Sprint (DOD – Definition of Done)</a:t>
            </a:r>
          </a:p>
          <a:p>
            <a:pPr lvl="3" algn="just"/>
            <a:r>
              <a:rPr lang="en-US" dirty="0" smtClean="0"/>
              <a:t>Assign task </a:t>
            </a:r>
            <a:r>
              <a:rPr lang="en-US" dirty="0" err="1" smtClean="0"/>
              <a:t>cho</a:t>
            </a:r>
            <a:r>
              <a:rPr lang="en-US" dirty="0" smtClean="0"/>
              <a:t> </a:t>
            </a:r>
            <a:r>
              <a:rPr lang="en-US" dirty="0" err="1" smtClean="0"/>
              <a:t>các</a:t>
            </a:r>
            <a:r>
              <a:rPr lang="en-US" dirty="0" smtClean="0"/>
              <a:t> </a:t>
            </a:r>
            <a:r>
              <a:rPr lang="en-US" dirty="0" err="1" smtClean="0"/>
              <a:t>thành</a:t>
            </a:r>
            <a:r>
              <a:rPr lang="en-US" dirty="0" smtClean="0"/>
              <a:t> </a:t>
            </a:r>
            <a:r>
              <a:rPr lang="en-US" dirty="0" err="1" smtClean="0"/>
              <a:t>viên</a:t>
            </a:r>
            <a:r>
              <a:rPr lang="en-US" dirty="0" smtClean="0"/>
              <a:t> </a:t>
            </a:r>
            <a:r>
              <a:rPr lang="en-US" dirty="0" err="1" smtClean="0"/>
              <a:t>trong</a:t>
            </a:r>
            <a:r>
              <a:rPr lang="en-US" dirty="0" smtClean="0"/>
              <a:t> </a:t>
            </a:r>
            <a:r>
              <a:rPr lang="en-US" dirty="0" err="1" smtClean="0"/>
              <a:t>đội</a:t>
            </a:r>
            <a:endParaRPr lang="en-US" dirty="0" smtClean="0"/>
          </a:p>
          <a:p>
            <a:pPr lvl="2" algn="just"/>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21</a:t>
            </a:fld>
            <a:endParaRPr lang="en-US" dirty="0"/>
          </a:p>
        </p:txBody>
      </p:sp>
    </p:spTree>
    <p:extLst>
      <p:ext uri="{BB962C8B-B14F-4D97-AF65-F5344CB8AC3E}">
        <p14:creationId xmlns:p14="http://schemas.microsoft.com/office/powerpoint/2010/main" val="10788941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22</a:t>
            </a:fld>
            <a:endParaRPr lang="en-US" dirty="0"/>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100" y="1425306"/>
            <a:ext cx="8013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28959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err="1" smtClean="0"/>
              <a:t>Ví</a:t>
            </a:r>
            <a:r>
              <a:rPr lang="en-US" dirty="0" smtClean="0"/>
              <a:t> </a:t>
            </a:r>
            <a:r>
              <a:rPr lang="en-US" dirty="0" err="1" smtClean="0"/>
              <a:t>dụ</a:t>
            </a:r>
            <a:r>
              <a:rPr lang="en-US" dirty="0" smtClean="0"/>
              <a:t> </a:t>
            </a:r>
            <a:r>
              <a:rPr lang="en-US" dirty="0" err="1" smtClean="0"/>
              <a:t>về</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smtClean="0"/>
              <a:t> (cont.)</a:t>
            </a:r>
            <a:endParaRPr lang="en-US" dirty="0"/>
          </a:p>
          <a:p>
            <a:pPr lvl="1" algn="just"/>
            <a:r>
              <a:rPr lang="en-US" dirty="0" err="1" smtClean="0"/>
              <a:t>Các</a:t>
            </a:r>
            <a:r>
              <a:rPr lang="en-US" dirty="0" smtClean="0"/>
              <a:t> </a:t>
            </a:r>
            <a:r>
              <a:rPr lang="en-US" dirty="0" err="1" smtClean="0"/>
              <a:t>bước</a:t>
            </a:r>
            <a:r>
              <a:rPr lang="en-US" dirty="0" smtClean="0"/>
              <a:t> </a:t>
            </a:r>
            <a:r>
              <a:rPr lang="en-US" dirty="0" err="1" smtClean="0"/>
              <a:t>thực</a:t>
            </a:r>
            <a:r>
              <a:rPr lang="en-US" dirty="0" smtClean="0"/>
              <a:t> </a:t>
            </a:r>
            <a:r>
              <a:rPr lang="en-US" dirty="0" err="1" smtClean="0"/>
              <a:t>hiện</a:t>
            </a:r>
            <a:endParaRPr lang="en-US" dirty="0" smtClean="0"/>
          </a:p>
          <a:p>
            <a:pPr lvl="2" algn="just"/>
            <a:r>
              <a:rPr lang="en-US" dirty="0" smtClean="0"/>
              <a:t> Execution: </a:t>
            </a:r>
          </a:p>
          <a:p>
            <a:pPr lvl="3" algn="just"/>
            <a:r>
              <a:rPr lang="en-US" dirty="0" err="1" smtClean="0"/>
              <a:t>Tiến</a:t>
            </a:r>
            <a:r>
              <a:rPr lang="en-US" dirty="0" smtClean="0"/>
              <a:t> </a:t>
            </a:r>
            <a:r>
              <a:rPr lang="en-US" dirty="0" err="1" smtClean="0"/>
              <a:t>hành</a:t>
            </a:r>
            <a:r>
              <a:rPr lang="en-US" dirty="0" smtClean="0"/>
              <a:t> </a:t>
            </a:r>
            <a:r>
              <a:rPr lang="en-US" dirty="0" err="1" smtClean="0"/>
              <a:t>họp</a:t>
            </a:r>
            <a:r>
              <a:rPr lang="en-US" dirty="0" smtClean="0"/>
              <a:t> daily (once every 2 days?) </a:t>
            </a:r>
            <a:r>
              <a:rPr lang="en-US" dirty="0" err="1" smtClean="0"/>
              <a:t>để</a:t>
            </a:r>
            <a:r>
              <a:rPr lang="en-US" dirty="0" smtClean="0"/>
              <a:t> </a:t>
            </a:r>
            <a:r>
              <a:rPr lang="en-US" dirty="0" err="1" smtClean="0"/>
              <a:t>các</a:t>
            </a:r>
            <a:r>
              <a:rPr lang="en-US" dirty="0" smtClean="0"/>
              <a:t> </a:t>
            </a:r>
            <a:r>
              <a:rPr lang="en-US" dirty="0" err="1" smtClean="0"/>
              <a:t>thành</a:t>
            </a:r>
            <a:r>
              <a:rPr lang="en-US" dirty="0" smtClean="0"/>
              <a:t> </a:t>
            </a:r>
            <a:r>
              <a:rPr lang="en-US" dirty="0" err="1" smtClean="0"/>
              <a:t>viên</a:t>
            </a:r>
            <a:r>
              <a:rPr lang="en-US" dirty="0" smtClean="0"/>
              <a:t> </a:t>
            </a:r>
            <a:r>
              <a:rPr lang="en-US" dirty="0" err="1" smtClean="0"/>
              <a:t>báo</a:t>
            </a:r>
            <a:r>
              <a:rPr lang="en-US" dirty="0" smtClean="0"/>
              <a:t> </a:t>
            </a:r>
            <a:r>
              <a:rPr lang="en-US" dirty="0" err="1" smtClean="0"/>
              <a:t>cáo</a:t>
            </a:r>
            <a:r>
              <a:rPr lang="en-US" dirty="0" smtClean="0"/>
              <a:t> </a:t>
            </a:r>
            <a:r>
              <a:rPr lang="en-US" dirty="0" err="1" smtClean="0"/>
              <a:t>công</a:t>
            </a:r>
            <a:r>
              <a:rPr lang="en-US" dirty="0" smtClean="0"/>
              <a:t> </a:t>
            </a:r>
            <a:r>
              <a:rPr lang="en-US" dirty="0" err="1" smtClean="0"/>
              <a:t>việc</a:t>
            </a:r>
            <a:r>
              <a:rPr lang="en-US" dirty="0" smtClean="0"/>
              <a:t> </a:t>
            </a:r>
            <a:r>
              <a:rPr lang="en-US" dirty="0" smtClean="0">
                <a:sym typeface="Wingdings" panose="05000000000000000000" pitchFamily="2" charset="2"/>
              </a:rPr>
              <a:t> </a:t>
            </a:r>
            <a:r>
              <a:rPr lang="en-US" dirty="0" err="1" smtClean="0">
                <a:sym typeface="Wingdings" panose="05000000000000000000" pitchFamily="2" charset="2"/>
              </a:rPr>
              <a:t>xác</a:t>
            </a:r>
            <a:r>
              <a:rPr lang="en-US" dirty="0" smtClean="0">
                <a:sym typeface="Wingdings" panose="05000000000000000000" pitchFamily="2" charset="2"/>
              </a:rPr>
              <a:t> </a:t>
            </a:r>
            <a:r>
              <a:rPr lang="en-US" dirty="0" err="1" smtClean="0">
                <a:sym typeface="Wingdings" panose="05000000000000000000" pitchFamily="2" charset="2"/>
              </a:rPr>
              <a:t>định</a:t>
            </a:r>
            <a:r>
              <a:rPr lang="en-US" dirty="0" smtClean="0">
                <a:sym typeface="Wingdings" panose="05000000000000000000" pitchFamily="2" charset="2"/>
              </a:rPr>
              <a:t> </a:t>
            </a:r>
            <a:r>
              <a:rPr lang="en-US" dirty="0" err="1" smtClean="0">
                <a:sym typeface="Wingdings" panose="05000000000000000000" pitchFamily="2" charset="2"/>
              </a:rPr>
              <a:t>được</a:t>
            </a:r>
            <a:r>
              <a:rPr lang="en-US" dirty="0" smtClean="0">
                <a:sym typeface="Wingdings" panose="05000000000000000000" pitchFamily="2" charset="2"/>
              </a:rPr>
              <a:t> </a:t>
            </a:r>
            <a:r>
              <a:rPr lang="en-US" dirty="0" err="1" smtClean="0">
                <a:sym typeface="Wingdings" panose="05000000000000000000" pitchFamily="2" charset="2"/>
              </a:rPr>
              <a:t>tiến</a:t>
            </a:r>
            <a:r>
              <a:rPr lang="en-US" dirty="0" smtClean="0">
                <a:sym typeface="Wingdings" panose="05000000000000000000" pitchFamily="2" charset="2"/>
              </a:rPr>
              <a:t> </a:t>
            </a:r>
            <a:r>
              <a:rPr lang="en-US" dirty="0" err="1" smtClean="0">
                <a:sym typeface="Wingdings" panose="05000000000000000000" pitchFamily="2" charset="2"/>
              </a:rPr>
              <a:t>độ</a:t>
            </a:r>
            <a:r>
              <a:rPr lang="en-US" dirty="0" smtClean="0">
                <a:sym typeface="Wingdings" panose="05000000000000000000" pitchFamily="2" charset="2"/>
              </a:rPr>
              <a:t> </a:t>
            </a:r>
            <a:r>
              <a:rPr lang="en-US" dirty="0" err="1" smtClean="0">
                <a:sym typeface="Wingdings" panose="05000000000000000000" pitchFamily="2" charset="2"/>
              </a:rPr>
              <a:t>công</a:t>
            </a:r>
            <a:r>
              <a:rPr lang="en-US" dirty="0" smtClean="0">
                <a:sym typeface="Wingdings" panose="05000000000000000000" pitchFamily="2" charset="2"/>
              </a:rPr>
              <a:t> </a:t>
            </a:r>
            <a:r>
              <a:rPr lang="en-US" dirty="0" err="1" smtClean="0">
                <a:sym typeface="Wingdings" panose="05000000000000000000" pitchFamily="2" charset="2"/>
              </a:rPr>
              <a:t>việc</a:t>
            </a:r>
            <a:r>
              <a:rPr lang="en-US" dirty="0" smtClean="0">
                <a:sym typeface="Wingdings" panose="05000000000000000000" pitchFamily="2" charset="2"/>
              </a:rPr>
              <a:t> </a:t>
            </a:r>
            <a:r>
              <a:rPr lang="en-US" dirty="0" err="1" smtClean="0">
                <a:sym typeface="Wingdings" panose="05000000000000000000" pitchFamily="2" charset="2"/>
              </a:rPr>
              <a:t>trong</a:t>
            </a:r>
            <a:r>
              <a:rPr lang="en-US" dirty="0" smtClean="0">
                <a:sym typeface="Wingdings" panose="05000000000000000000" pitchFamily="2" charset="2"/>
              </a:rPr>
              <a:t> Sprint</a:t>
            </a:r>
          </a:p>
          <a:p>
            <a:pPr lvl="3" algn="just"/>
            <a:r>
              <a:rPr lang="en-US" dirty="0" err="1" smtClean="0">
                <a:sym typeface="Wingdings" panose="05000000000000000000" pitchFamily="2" charset="2"/>
              </a:rPr>
              <a:t>Các</a:t>
            </a:r>
            <a:r>
              <a:rPr lang="en-US" dirty="0" smtClean="0">
                <a:sym typeface="Wingdings" panose="05000000000000000000" pitchFamily="2" charset="2"/>
              </a:rPr>
              <a:t> </a:t>
            </a:r>
            <a:r>
              <a:rPr lang="en-US" dirty="0" err="1" smtClean="0">
                <a:sym typeface="Wingdings" panose="05000000000000000000" pitchFamily="2" charset="2"/>
              </a:rPr>
              <a:t>thành</a:t>
            </a:r>
            <a:r>
              <a:rPr lang="en-US" dirty="0" smtClean="0">
                <a:sym typeface="Wingdings" panose="05000000000000000000" pitchFamily="2" charset="2"/>
              </a:rPr>
              <a:t> </a:t>
            </a:r>
            <a:r>
              <a:rPr lang="en-US" dirty="0" err="1" smtClean="0">
                <a:sym typeface="Wingdings" panose="05000000000000000000" pitchFamily="2" charset="2"/>
              </a:rPr>
              <a:t>viên</a:t>
            </a:r>
            <a:r>
              <a:rPr lang="en-US" dirty="0" smtClean="0">
                <a:sym typeface="Wingdings" panose="05000000000000000000" pitchFamily="2" charset="2"/>
              </a:rPr>
              <a:t> </a:t>
            </a:r>
            <a:r>
              <a:rPr lang="en-US" dirty="0" err="1" smtClean="0">
                <a:sym typeface="Wingdings" panose="05000000000000000000" pitchFamily="2" charset="2"/>
              </a:rPr>
              <a:t>cập</a:t>
            </a:r>
            <a:r>
              <a:rPr lang="en-US" dirty="0" smtClean="0">
                <a:sym typeface="Wingdings" panose="05000000000000000000" pitchFamily="2" charset="2"/>
              </a:rPr>
              <a:t> </a:t>
            </a:r>
            <a:r>
              <a:rPr lang="en-US" dirty="0" err="1" smtClean="0">
                <a:sym typeface="Wingdings" panose="05000000000000000000" pitchFamily="2" charset="2"/>
              </a:rPr>
              <a:t>nhật</a:t>
            </a:r>
            <a:r>
              <a:rPr lang="en-US" dirty="0" smtClean="0">
                <a:sym typeface="Wingdings" panose="05000000000000000000" pitchFamily="2" charset="2"/>
              </a:rPr>
              <a:t> </a:t>
            </a:r>
            <a:r>
              <a:rPr lang="en-US" dirty="0" err="1" smtClean="0">
                <a:sym typeface="Wingdings" panose="05000000000000000000" pitchFamily="2" charset="2"/>
              </a:rPr>
              <a:t>trạng</a:t>
            </a:r>
            <a:r>
              <a:rPr lang="en-US" dirty="0" smtClean="0">
                <a:sym typeface="Wingdings" panose="05000000000000000000" pitchFamily="2" charset="2"/>
              </a:rPr>
              <a:t> </a:t>
            </a:r>
            <a:r>
              <a:rPr lang="en-US" dirty="0" err="1" smtClean="0">
                <a:sym typeface="Wingdings" panose="05000000000000000000" pitchFamily="2" charset="2"/>
              </a:rPr>
              <a:t>thái</a:t>
            </a:r>
            <a:r>
              <a:rPr lang="en-US" dirty="0" smtClean="0">
                <a:sym typeface="Wingdings" panose="05000000000000000000" pitchFamily="2" charset="2"/>
              </a:rPr>
              <a:t> </a:t>
            </a:r>
            <a:r>
              <a:rPr lang="en-US" dirty="0" err="1" smtClean="0">
                <a:sym typeface="Wingdings" panose="05000000000000000000" pitchFamily="2" charset="2"/>
              </a:rPr>
              <a:t>công</a:t>
            </a:r>
            <a:r>
              <a:rPr lang="en-US" dirty="0" smtClean="0">
                <a:sym typeface="Wingdings" panose="05000000000000000000" pitchFamily="2" charset="2"/>
              </a:rPr>
              <a:t> </a:t>
            </a:r>
            <a:r>
              <a:rPr lang="en-US" dirty="0" err="1" smtClean="0">
                <a:sym typeface="Wingdings" panose="05000000000000000000" pitchFamily="2" charset="2"/>
              </a:rPr>
              <a:t>việc</a:t>
            </a:r>
            <a:r>
              <a:rPr lang="en-US" dirty="0" smtClean="0">
                <a:sym typeface="Wingdings" panose="05000000000000000000" pitchFamily="2" charset="2"/>
              </a:rPr>
              <a:t> </a:t>
            </a:r>
            <a:r>
              <a:rPr lang="en-US" dirty="0" err="1" smtClean="0">
                <a:sym typeface="Wingdings" panose="05000000000000000000" pitchFamily="2" charset="2"/>
              </a:rPr>
              <a:t>lên</a:t>
            </a:r>
            <a:r>
              <a:rPr lang="en-US" dirty="0" smtClean="0">
                <a:sym typeface="Wingdings" panose="05000000000000000000" pitchFamily="2" charset="2"/>
              </a:rPr>
              <a:t> White Board</a:t>
            </a:r>
          </a:p>
          <a:p>
            <a:pPr lvl="3" algn="just"/>
            <a:r>
              <a:rPr lang="en-US" dirty="0" err="1" smtClean="0">
                <a:sym typeface="Wingdings" panose="05000000000000000000" pitchFamily="2" charset="2"/>
              </a:rPr>
              <a:t>Trao</a:t>
            </a:r>
            <a:r>
              <a:rPr lang="en-US" dirty="0" smtClean="0">
                <a:sym typeface="Wingdings" panose="05000000000000000000" pitchFamily="2" charset="2"/>
              </a:rPr>
              <a:t> </a:t>
            </a:r>
            <a:r>
              <a:rPr lang="en-US" dirty="0" err="1" smtClean="0">
                <a:sym typeface="Wingdings" panose="05000000000000000000" pitchFamily="2" charset="2"/>
              </a:rPr>
              <a:t>đổi</a:t>
            </a:r>
            <a:r>
              <a:rPr lang="en-US" dirty="0" smtClean="0">
                <a:sym typeface="Wingdings" panose="05000000000000000000" pitchFamily="2" charset="2"/>
              </a:rPr>
              <a:t> </a:t>
            </a:r>
            <a:r>
              <a:rPr lang="en-US" dirty="0" err="1" smtClean="0">
                <a:sym typeface="Wingdings" panose="05000000000000000000" pitchFamily="2" charset="2"/>
              </a:rPr>
              <a:t>với</a:t>
            </a:r>
            <a:r>
              <a:rPr lang="en-US" dirty="0" smtClean="0">
                <a:sym typeface="Wingdings" panose="05000000000000000000" pitchFamily="2" charset="2"/>
              </a:rPr>
              <a:t> </a:t>
            </a:r>
            <a:r>
              <a:rPr lang="en-US" dirty="0" err="1" smtClean="0">
                <a:sym typeface="Wingdings" panose="05000000000000000000" pitchFamily="2" charset="2"/>
              </a:rPr>
              <a:t>các</a:t>
            </a:r>
            <a:r>
              <a:rPr lang="en-US" dirty="0" smtClean="0">
                <a:sym typeface="Wingdings" panose="05000000000000000000" pitchFamily="2" charset="2"/>
              </a:rPr>
              <a:t> </a:t>
            </a:r>
            <a:r>
              <a:rPr lang="en-US" dirty="0" err="1" smtClean="0">
                <a:sym typeface="Wingdings" panose="05000000000000000000" pitchFamily="2" charset="2"/>
              </a:rPr>
              <a:t>thành</a:t>
            </a:r>
            <a:r>
              <a:rPr lang="en-US" dirty="0" smtClean="0">
                <a:sym typeface="Wingdings" panose="05000000000000000000" pitchFamily="2" charset="2"/>
              </a:rPr>
              <a:t> </a:t>
            </a:r>
            <a:r>
              <a:rPr lang="en-US" dirty="0" err="1" smtClean="0">
                <a:sym typeface="Wingdings" panose="05000000000000000000" pitchFamily="2" charset="2"/>
              </a:rPr>
              <a:t>viên</a:t>
            </a:r>
            <a:r>
              <a:rPr lang="en-US" dirty="0" smtClean="0">
                <a:sym typeface="Wingdings" panose="05000000000000000000" pitchFamily="2" charset="2"/>
              </a:rPr>
              <a:t> </a:t>
            </a:r>
            <a:r>
              <a:rPr lang="en-US" dirty="0" err="1" smtClean="0">
                <a:sym typeface="Wingdings" panose="05000000000000000000" pitchFamily="2" charset="2"/>
              </a:rPr>
              <a:t>và</a:t>
            </a:r>
            <a:r>
              <a:rPr lang="en-US" dirty="0" smtClean="0">
                <a:sym typeface="Wingdings" panose="05000000000000000000" pitchFamily="2" charset="2"/>
              </a:rPr>
              <a:t> </a:t>
            </a:r>
            <a:r>
              <a:rPr lang="en-US" dirty="0" err="1" smtClean="0">
                <a:sym typeface="Wingdings" panose="05000000000000000000" pitchFamily="2" charset="2"/>
              </a:rPr>
              <a:t>giữa</a:t>
            </a:r>
            <a:r>
              <a:rPr lang="en-US" dirty="0" smtClean="0">
                <a:sym typeface="Wingdings" panose="05000000000000000000" pitchFamily="2" charset="2"/>
              </a:rPr>
              <a:t> </a:t>
            </a:r>
            <a:r>
              <a:rPr lang="en-US" dirty="0" err="1" smtClean="0">
                <a:sym typeface="Wingdings" panose="05000000000000000000" pitchFamily="2" charset="2"/>
              </a:rPr>
              <a:t>các</a:t>
            </a:r>
            <a:r>
              <a:rPr lang="en-US" dirty="0" smtClean="0">
                <a:sym typeface="Wingdings" panose="05000000000000000000" pitchFamily="2" charset="2"/>
              </a:rPr>
              <a:t> </a:t>
            </a:r>
            <a:r>
              <a:rPr lang="en-US" dirty="0" err="1" smtClean="0">
                <a:sym typeface="Wingdings" panose="05000000000000000000" pitchFamily="2" charset="2"/>
              </a:rPr>
              <a:t>thành</a:t>
            </a:r>
            <a:r>
              <a:rPr lang="en-US" dirty="0" smtClean="0">
                <a:sym typeface="Wingdings" panose="05000000000000000000" pitchFamily="2" charset="2"/>
              </a:rPr>
              <a:t> </a:t>
            </a:r>
            <a:r>
              <a:rPr lang="en-US" dirty="0" err="1" smtClean="0">
                <a:sym typeface="Wingdings" panose="05000000000000000000" pitchFamily="2" charset="2"/>
              </a:rPr>
              <a:t>viên</a:t>
            </a:r>
            <a:r>
              <a:rPr lang="en-US" dirty="0" smtClean="0">
                <a:sym typeface="Wingdings" panose="05000000000000000000" pitchFamily="2" charset="2"/>
              </a:rPr>
              <a:t> </a:t>
            </a:r>
            <a:r>
              <a:rPr lang="en-US" dirty="0" err="1" smtClean="0">
                <a:sym typeface="Wingdings" panose="05000000000000000000" pitchFamily="2" charset="2"/>
              </a:rPr>
              <a:t>để</a:t>
            </a:r>
            <a:r>
              <a:rPr lang="en-US" dirty="0" smtClean="0">
                <a:sym typeface="Wingdings" panose="05000000000000000000" pitchFamily="2" charset="2"/>
              </a:rPr>
              <a:t> </a:t>
            </a:r>
            <a:r>
              <a:rPr lang="en-US" dirty="0" err="1" smtClean="0">
                <a:sym typeface="Wingdings" panose="05000000000000000000" pitchFamily="2" charset="2"/>
              </a:rPr>
              <a:t>giải</a:t>
            </a:r>
            <a:r>
              <a:rPr lang="en-US" dirty="0" smtClean="0">
                <a:sym typeface="Wingdings" panose="05000000000000000000" pitchFamily="2" charset="2"/>
              </a:rPr>
              <a:t> </a:t>
            </a:r>
            <a:r>
              <a:rPr lang="en-US" dirty="0" err="1" smtClean="0">
                <a:sym typeface="Wingdings" panose="05000000000000000000" pitchFamily="2" charset="2"/>
              </a:rPr>
              <a:t>quyết</a:t>
            </a:r>
            <a:r>
              <a:rPr lang="en-US" dirty="0" smtClean="0">
                <a:sym typeface="Wingdings" panose="05000000000000000000" pitchFamily="2" charset="2"/>
              </a:rPr>
              <a:t> </a:t>
            </a:r>
            <a:r>
              <a:rPr lang="en-US" dirty="0" err="1" smtClean="0">
                <a:sym typeface="Wingdings" panose="05000000000000000000" pitchFamily="2" charset="2"/>
              </a:rPr>
              <a:t>các</a:t>
            </a:r>
            <a:r>
              <a:rPr lang="en-US" dirty="0" smtClean="0">
                <a:sym typeface="Wingdings" panose="05000000000000000000" pitchFamily="2" charset="2"/>
              </a:rPr>
              <a:t> </a:t>
            </a:r>
            <a:r>
              <a:rPr lang="en-US" dirty="0" err="1" smtClean="0">
                <a:sym typeface="Wingdings" panose="05000000000000000000" pitchFamily="2" charset="2"/>
              </a:rPr>
              <a:t>vấn</a:t>
            </a:r>
            <a:r>
              <a:rPr lang="en-US" dirty="0" smtClean="0">
                <a:sym typeface="Wingdings" panose="05000000000000000000" pitchFamily="2" charset="2"/>
              </a:rPr>
              <a:t> </a:t>
            </a:r>
            <a:r>
              <a:rPr lang="en-US" dirty="0" err="1" smtClean="0">
                <a:sym typeface="Wingdings" panose="05000000000000000000" pitchFamily="2" charset="2"/>
              </a:rPr>
              <a:t>đề</a:t>
            </a:r>
            <a:endParaRPr lang="en-US" dirty="0" smtClean="0"/>
          </a:p>
          <a:p>
            <a:pPr lvl="3" algn="just"/>
            <a:r>
              <a:rPr lang="en-US" dirty="0" err="1" smtClean="0"/>
              <a:t>Xác</a:t>
            </a:r>
            <a:r>
              <a:rPr lang="en-US" dirty="0" smtClean="0"/>
              <a:t> </a:t>
            </a:r>
            <a:r>
              <a:rPr lang="en-US" dirty="0" err="1" smtClean="0"/>
              <a:t>định</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hoàn</a:t>
            </a:r>
            <a:r>
              <a:rPr lang="en-US" dirty="0" smtClean="0"/>
              <a:t> </a:t>
            </a:r>
            <a:r>
              <a:rPr lang="en-US" dirty="0" err="1" smtClean="0"/>
              <a:t>thành</a:t>
            </a:r>
            <a:r>
              <a:rPr lang="en-US" dirty="0" smtClean="0"/>
              <a:t> </a:t>
            </a:r>
            <a:r>
              <a:rPr lang="en-US" dirty="0" err="1" smtClean="0"/>
              <a:t>các</a:t>
            </a:r>
            <a:r>
              <a:rPr lang="en-US" dirty="0" smtClean="0"/>
              <a:t> </a:t>
            </a:r>
            <a:r>
              <a:rPr lang="en-US" dirty="0" err="1" smtClean="0"/>
              <a:t>công</a:t>
            </a:r>
            <a:r>
              <a:rPr lang="en-US" dirty="0" smtClean="0"/>
              <a:t> </a:t>
            </a:r>
            <a:r>
              <a:rPr lang="en-US" dirty="0" err="1" smtClean="0"/>
              <a:t>việc</a:t>
            </a:r>
            <a:r>
              <a:rPr lang="en-US" dirty="0" smtClean="0"/>
              <a:t> </a:t>
            </a:r>
            <a:r>
              <a:rPr lang="en-US" dirty="0" smtClean="0">
                <a:sym typeface="Wingdings" panose="05000000000000000000" pitchFamily="2" charset="2"/>
              </a:rPr>
              <a:t> </a:t>
            </a:r>
            <a:r>
              <a:rPr lang="en-US" dirty="0" err="1" smtClean="0">
                <a:sym typeface="Wingdings" panose="05000000000000000000" pitchFamily="2" charset="2"/>
              </a:rPr>
              <a:t>đưa</a:t>
            </a:r>
            <a:r>
              <a:rPr lang="en-US" dirty="0" smtClean="0">
                <a:sym typeface="Wingdings" panose="05000000000000000000" pitchFamily="2" charset="2"/>
              </a:rPr>
              <a:t> </a:t>
            </a:r>
            <a:r>
              <a:rPr lang="en-US" dirty="0" err="1" smtClean="0">
                <a:sym typeface="Wingdings" panose="05000000000000000000" pitchFamily="2" charset="2"/>
              </a:rPr>
              <a:t>ra</a:t>
            </a:r>
            <a:r>
              <a:rPr lang="en-US" dirty="0" smtClean="0">
                <a:sym typeface="Wingdings" panose="05000000000000000000" pitchFamily="2" charset="2"/>
              </a:rPr>
              <a:t> </a:t>
            </a:r>
            <a:r>
              <a:rPr lang="en-US" dirty="0" err="1" smtClean="0">
                <a:sym typeface="Wingdings" panose="05000000000000000000" pitchFamily="2" charset="2"/>
              </a:rPr>
              <a:t>các</a:t>
            </a:r>
            <a:r>
              <a:rPr lang="en-US" dirty="0" smtClean="0">
                <a:sym typeface="Wingdings" panose="05000000000000000000" pitchFamily="2" charset="2"/>
              </a:rPr>
              <a:t> </a:t>
            </a:r>
            <a:r>
              <a:rPr lang="en-US" dirty="0" err="1" smtClean="0">
                <a:sym typeface="Wingdings" panose="05000000000000000000" pitchFamily="2" charset="2"/>
              </a:rPr>
              <a:t>thay</a:t>
            </a:r>
            <a:r>
              <a:rPr lang="en-US" dirty="0" smtClean="0">
                <a:sym typeface="Wingdings" panose="05000000000000000000" pitchFamily="2" charset="2"/>
              </a:rPr>
              <a:t> </a:t>
            </a:r>
            <a:r>
              <a:rPr lang="en-US" dirty="0" err="1" smtClean="0">
                <a:sym typeface="Wingdings" panose="05000000000000000000" pitchFamily="2" charset="2"/>
              </a:rPr>
              <a:t>đổi</a:t>
            </a:r>
            <a:r>
              <a:rPr lang="en-US" dirty="0" smtClean="0">
                <a:sym typeface="Wingdings" panose="05000000000000000000" pitchFamily="2" charset="2"/>
              </a:rPr>
              <a:t> </a:t>
            </a:r>
            <a:r>
              <a:rPr lang="en-US" dirty="0" err="1" smtClean="0">
                <a:sym typeface="Wingdings" panose="05000000000000000000" pitchFamily="2" charset="2"/>
              </a:rPr>
              <a:t>sớm</a:t>
            </a:r>
            <a:r>
              <a:rPr lang="en-US" dirty="0" smtClean="0">
                <a:sym typeface="Wingdings" panose="05000000000000000000" pitchFamily="2" charset="2"/>
              </a:rPr>
              <a:t> </a:t>
            </a:r>
            <a:r>
              <a:rPr lang="en-US" dirty="0" err="1" smtClean="0">
                <a:sym typeface="Wingdings" panose="05000000000000000000" pitchFamily="2" charset="2"/>
              </a:rPr>
              <a:t>nhất</a:t>
            </a:r>
            <a:r>
              <a:rPr lang="en-US" dirty="0">
                <a:sym typeface="Wingdings" panose="05000000000000000000" pitchFamily="2" charset="2"/>
              </a:rPr>
              <a:t>.</a:t>
            </a:r>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23</a:t>
            </a:fld>
            <a:endParaRPr lang="en-US" dirty="0"/>
          </a:p>
        </p:txBody>
      </p:sp>
    </p:spTree>
    <p:extLst>
      <p:ext uri="{BB962C8B-B14F-4D97-AF65-F5344CB8AC3E}">
        <p14:creationId xmlns:p14="http://schemas.microsoft.com/office/powerpoint/2010/main" val="25593014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endParaRPr lang="en-US" dirty="0"/>
          </a:p>
        </p:txBody>
      </p:sp>
      <p:sp>
        <p:nvSpPr>
          <p:cNvPr id="3" name="Content Placeholder 2"/>
          <p:cNvSpPr>
            <a:spLocks noGrp="1"/>
          </p:cNvSpPr>
          <p:nvPr>
            <p:ph idx="1"/>
          </p:nvPr>
        </p:nvSpPr>
        <p:spPr>
          <a:xfrm>
            <a:off x="457200" y="1371600"/>
            <a:ext cx="8305800" cy="4984750"/>
          </a:xfrm>
        </p:spPr>
        <p:txBody>
          <a:bodyPr>
            <a:normAutofit/>
          </a:bodyPr>
          <a:lstStyle/>
          <a:p>
            <a:pPr algn="just"/>
            <a:r>
              <a:rPr lang="en-US" dirty="0" err="1" smtClean="0"/>
              <a:t>Ví</a:t>
            </a:r>
            <a:r>
              <a:rPr lang="en-US" dirty="0" smtClean="0"/>
              <a:t> </a:t>
            </a:r>
            <a:r>
              <a:rPr lang="en-US" dirty="0" err="1" smtClean="0"/>
              <a:t>dụ</a:t>
            </a:r>
            <a:r>
              <a:rPr lang="en-US" dirty="0" smtClean="0"/>
              <a:t> </a:t>
            </a:r>
            <a:r>
              <a:rPr lang="en-US" dirty="0" err="1" smtClean="0"/>
              <a:t>về</a:t>
            </a:r>
            <a:r>
              <a:rPr lang="en-US" dirty="0" smtClean="0"/>
              <a:t> </a:t>
            </a:r>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smtClean="0"/>
              <a:t> (cont.)</a:t>
            </a:r>
            <a:endParaRPr lang="en-US" dirty="0"/>
          </a:p>
          <a:p>
            <a:pPr lvl="1" algn="just"/>
            <a:r>
              <a:rPr lang="en-US" dirty="0" err="1" smtClean="0"/>
              <a:t>Các</a:t>
            </a:r>
            <a:r>
              <a:rPr lang="en-US" dirty="0" smtClean="0"/>
              <a:t> </a:t>
            </a:r>
            <a:r>
              <a:rPr lang="en-US" dirty="0" err="1" smtClean="0"/>
              <a:t>bước</a:t>
            </a:r>
            <a:r>
              <a:rPr lang="en-US" dirty="0" smtClean="0"/>
              <a:t> </a:t>
            </a:r>
            <a:r>
              <a:rPr lang="en-US" dirty="0" err="1" smtClean="0"/>
              <a:t>thực</a:t>
            </a:r>
            <a:r>
              <a:rPr lang="en-US" dirty="0" smtClean="0"/>
              <a:t> </a:t>
            </a:r>
            <a:r>
              <a:rPr lang="en-US" dirty="0" err="1" smtClean="0"/>
              <a:t>hiện</a:t>
            </a:r>
            <a:endParaRPr lang="en-US" dirty="0" smtClean="0"/>
          </a:p>
          <a:p>
            <a:pPr lvl="2" algn="just"/>
            <a:r>
              <a:rPr lang="en-US" dirty="0" smtClean="0"/>
              <a:t> </a:t>
            </a:r>
            <a:r>
              <a:rPr lang="en-US" dirty="0" err="1" smtClean="0"/>
              <a:t>Đánh</a:t>
            </a:r>
            <a:r>
              <a:rPr lang="en-US" dirty="0" smtClean="0"/>
              <a:t> </a:t>
            </a:r>
            <a:r>
              <a:rPr lang="en-US" dirty="0" err="1" smtClean="0"/>
              <a:t>giá</a:t>
            </a:r>
            <a:r>
              <a:rPr lang="en-US" dirty="0" smtClean="0"/>
              <a:t> </a:t>
            </a:r>
            <a:r>
              <a:rPr lang="en-US" dirty="0" err="1" smtClean="0"/>
              <a:t>kết</a:t>
            </a:r>
            <a:r>
              <a:rPr lang="en-US" dirty="0" smtClean="0"/>
              <a:t> </a:t>
            </a:r>
            <a:r>
              <a:rPr lang="en-US" dirty="0" err="1" smtClean="0"/>
              <a:t>quả</a:t>
            </a:r>
            <a:r>
              <a:rPr lang="en-US" dirty="0" smtClean="0"/>
              <a:t> Sprint: </a:t>
            </a:r>
          </a:p>
          <a:p>
            <a:pPr lvl="3" algn="just"/>
            <a:r>
              <a:rPr lang="en-US" dirty="0" err="1" smtClean="0"/>
              <a:t>Thực</a:t>
            </a:r>
            <a:r>
              <a:rPr lang="en-US" dirty="0" smtClean="0"/>
              <a:t> </a:t>
            </a:r>
            <a:r>
              <a:rPr lang="en-US" dirty="0" err="1" smtClean="0"/>
              <a:t>hiện</a:t>
            </a:r>
            <a:r>
              <a:rPr lang="en-US" dirty="0" smtClean="0"/>
              <a:t> demo </a:t>
            </a:r>
            <a:r>
              <a:rPr lang="en-US" dirty="0" err="1" smtClean="0"/>
              <a:t>các</a:t>
            </a:r>
            <a:r>
              <a:rPr lang="en-US" dirty="0" smtClean="0"/>
              <a:t> </a:t>
            </a:r>
            <a:r>
              <a:rPr lang="en-US" dirty="0" err="1" smtClean="0"/>
              <a:t>công</a:t>
            </a:r>
            <a:r>
              <a:rPr lang="en-US" dirty="0" smtClean="0"/>
              <a:t> </a:t>
            </a:r>
            <a:r>
              <a:rPr lang="en-US" dirty="0" err="1" smtClean="0"/>
              <a:t>việc</a:t>
            </a:r>
            <a:r>
              <a:rPr lang="en-US" dirty="0" smtClean="0"/>
              <a:t> </a:t>
            </a:r>
            <a:r>
              <a:rPr lang="en-US" dirty="0" err="1" smtClean="0"/>
              <a:t>trong</a:t>
            </a:r>
            <a:r>
              <a:rPr lang="en-US" dirty="0" smtClean="0"/>
              <a:t> Sprint</a:t>
            </a:r>
          </a:p>
          <a:p>
            <a:pPr lvl="3" algn="just"/>
            <a:r>
              <a:rPr lang="en-US" dirty="0" err="1" smtClean="0"/>
              <a:t>Đánh</a:t>
            </a:r>
            <a:r>
              <a:rPr lang="en-US" dirty="0" smtClean="0"/>
              <a:t> </a:t>
            </a:r>
            <a:r>
              <a:rPr lang="en-US" dirty="0" err="1" smtClean="0"/>
              <a:t>giá</a:t>
            </a:r>
            <a:r>
              <a:rPr lang="en-US" dirty="0" smtClean="0"/>
              <a:t> </a:t>
            </a:r>
            <a:r>
              <a:rPr lang="en-US" dirty="0" err="1" smtClean="0"/>
              <a:t>các</a:t>
            </a:r>
            <a:r>
              <a:rPr lang="en-US" dirty="0" smtClean="0"/>
              <a:t> </a:t>
            </a:r>
            <a:r>
              <a:rPr lang="en-US" dirty="0" err="1" smtClean="0"/>
              <a:t>công</a:t>
            </a:r>
            <a:r>
              <a:rPr lang="en-US" dirty="0" smtClean="0"/>
              <a:t> </a:t>
            </a:r>
            <a:r>
              <a:rPr lang="en-US" dirty="0" err="1" smtClean="0"/>
              <a:t>việc</a:t>
            </a:r>
            <a:r>
              <a:rPr lang="en-US" dirty="0" smtClean="0"/>
              <a:t> </a:t>
            </a:r>
            <a:r>
              <a:rPr lang="en-US" dirty="0" err="1" smtClean="0"/>
              <a:t>dựa</a:t>
            </a:r>
            <a:r>
              <a:rPr lang="en-US" dirty="0" smtClean="0"/>
              <a:t> </a:t>
            </a:r>
            <a:r>
              <a:rPr lang="en-US" dirty="0" err="1" smtClean="0"/>
              <a:t>trên</a:t>
            </a:r>
            <a:r>
              <a:rPr lang="en-US" dirty="0" smtClean="0"/>
              <a:t> DOD </a:t>
            </a:r>
            <a:r>
              <a:rPr lang="en-US" dirty="0" err="1" smtClean="0"/>
              <a:t>đã</a:t>
            </a:r>
            <a:r>
              <a:rPr lang="en-US" dirty="0" smtClean="0"/>
              <a:t> </a:t>
            </a:r>
            <a:r>
              <a:rPr lang="en-US" dirty="0" err="1" smtClean="0"/>
              <a:t>định</a:t>
            </a:r>
            <a:r>
              <a:rPr lang="en-US" dirty="0" smtClean="0"/>
              <a:t> </a:t>
            </a:r>
            <a:r>
              <a:rPr lang="en-US" dirty="0" err="1" smtClean="0"/>
              <a:t>nghĩa</a:t>
            </a:r>
            <a:endParaRPr lang="en-US" dirty="0" smtClean="0"/>
          </a:p>
          <a:p>
            <a:pPr lvl="3" algn="just"/>
            <a:r>
              <a:rPr lang="en-US" dirty="0" err="1" smtClean="0"/>
              <a:t>Đưa</a:t>
            </a:r>
            <a:r>
              <a:rPr lang="en-US" dirty="0" smtClean="0"/>
              <a:t> </a:t>
            </a:r>
            <a:r>
              <a:rPr lang="en-US" dirty="0" err="1" smtClean="0"/>
              <a:t>các</a:t>
            </a:r>
            <a:r>
              <a:rPr lang="en-US" dirty="0" smtClean="0"/>
              <a:t> </a:t>
            </a:r>
            <a:r>
              <a:rPr lang="en-US" dirty="0" err="1" smtClean="0"/>
              <a:t>công</a:t>
            </a:r>
            <a:r>
              <a:rPr lang="en-US" dirty="0" smtClean="0"/>
              <a:t> </a:t>
            </a:r>
            <a:r>
              <a:rPr lang="en-US" dirty="0" err="1" smtClean="0"/>
              <a:t>việc</a:t>
            </a:r>
            <a:r>
              <a:rPr lang="en-US" dirty="0" smtClean="0"/>
              <a:t> </a:t>
            </a:r>
            <a:r>
              <a:rPr lang="en-US" dirty="0" err="1" smtClean="0"/>
              <a:t>chưa</a:t>
            </a:r>
            <a:r>
              <a:rPr lang="en-US" dirty="0" smtClean="0"/>
              <a:t> </a:t>
            </a:r>
            <a:r>
              <a:rPr lang="en-US" dirty="0" err="1" smtClean="0"/>
              <a:t>hoàn</a:t>
            </a:r>
            <a:r>
              <a:rPr lang="en-US" dirty="0" smtClean="0"/>
              <a:t> </a:t>
            </a:r>
            <a:r>
              <a:rPr lang="en-US" dirty="0" err="1" smtClean="0"/>
              <a:t>thành</a:t>
            </a:r>
            <a:r>
              <a:rPr lang="en-US" dirty="0" smtClean="0"/>
              <a:t> </a:t>
            </a:r>
            <a:r>
              <a:rPr lang="en-US" dirty="0" err="1" smtClean="0"/>
              <a:t>vào</a:t>
            </a:r>
            <a:r>
              <a:rPr lang="en-US" dirty="0" smtClean="0"/>
              <a:t> Product Backlog</a:t>
            </a:r>
          </a:p>
          <a:p>
            <a:pPr lvl="3" algn="just"/>
            <a:r>
              <a:rPr lang="en-US" dirty="0" err="1" smtClean="0"/>
              <a:t>Hoàn</a:t>
            </a:r>
            <a:r>
              <a:rPr lang="en-US" dirty="0" smtClean="0"/>
              <a:t> </a:t>
            </a:r>
            <a:r>
              <a:rPr lang="en-US" dirty="0" err="1" smtClean="0"/>
              <a:t>thiện</a:t>
            </a:r>
            <a:r>
              <a:rPr lang="en-US" dirty="0" smtClean="0"/>
              <a:t> </a:t>
            </a:r>
            <a:r>
              <a:rPr lang="en-US" dirty="0" err="1" smtClean="0"/>
              <a:t>báo</a:t>
            </a:r>
            <a:r>
              <a:rPr lang="en-US" dirty="0" smtClean="0"/>
              <a:t> </a:t>
            </a:r>
            <a:r>
              <a:rPr lang="en-US" dirty="0" err="1" smtClean="0"/>
              <a:t>cáo</a:t>
            </a:r>
            <a:endParaRPr lang="en-US" dirty="0" smtClean="0"/>
          </a:p>
          <a:p>
            <a:pPr lvl="2" algn="just"/>
            <a:r>
              <a:rPr lang="en-US" dirty="0" err="1" smtClean="0"/>
              <a:t>Chuẩn</a:t>
            </a:r>
            <a:r>
              <a:rPr lang="en-US" dirty="0" smtClean="0"/>
              <a:t> </a:t>
            </a:r>
            <a:r>
              <a:rPr lang="en-US" dirty="0" err="1" smtClean="0"/>
              <a:t>bị</a:t>
            </a:r>
            <a:r>
              <a:rPr lang="en-US" dirty="0" smtClean="0"/>
              <a:t> </a:t>
            </a:r>
            <a:r>
              <a:rPr lang="en-US" dirty="0" err="1" smtClean="0"/>
              <a:t>cho</a:t>
            </a:r>
            <a:r>
              <a:rPr lang="en-US" dirty="0" smtClean="0"/>
              <a:t> Sprint </a:t>
            </a:r>
            <a:r>
              <a:rPr lang="en-US" dirty="0" err="1" smtClean="0"/>
              <a:t>tiếp</a:t>
            </a:r>
            <a:r>
              <a:rPr lang="en-US" dirty="0" smtClean="0"/>
              <a:t> </a:t>
            </a:r>
            <a:r>
              <a:rPr lang="en-US" dirty="0" err="1" smtClean="0"/>
              <a:t>theo</a:t>
            </a:r>
            <a:endParaRPr lang="en-US" dirty="0" smtClean="0"/>
          </a:p>
          <a:p>
            <a:pPr lvl="3" algn="just"/>
            <a:r>
              <a:rPr lang="en-US" dirty="0" err="1"/>
              <a:t>Phân</a:t>
            </a:r>
            <a:r>
              <a:rPr lang="en-US" dirty="0"/>
              <a:t> </a:t>
            </a:r>
            <a:r>
              <a:rPr lang="en-US" dirty="0" err="1"/>
              <a:t>loại</a:t>
            </a:r>
            <a:r>
              <a:rPr lang="en-US" dirty="0"/>
              <a:t>, </a:t>
            </a:r>
            <a:r>
              <a:rPr lang="en-US" dirty="0" err="1"/>
              <a:t>đánh</a:t>
            </a:r>
            <a:r>
              <a:rPr lang="en-US" dirty="0"/>
              <a:t> </a:t>
            </a:r>
            <a:r>
              <a:rPr lang="en-US" dirty="0" err="1"/>
              <a:t>giá</a:t>
            </a:r>
            <a:r>
              <a:rPr lang="en-US" dirty="0"/>
              <a:t> </a:t>
            </a:r>
            <a:r>
              <a:rPr lang="en-US" dirty="0" err="1"/>
              <a:t>và</a:t>
            </a:r>
            <a:r>
              <a:rPr lang="en-US" dirty="0"/>
              <a:t> </a:t>
            </a:r>
            <a:r>
              <a:rPr lang="en-US" dirty="0" err="1"/>
              <a:t>sắp</a:t>
            </a:r>
            <a:r>
              <a:rPr lang="en-US" dirty="0"/>
              <a:t> </a:t>
            </a:r>
            <a:r>
              <a:rPr lang="en-US" dirty="0" err="1"/>
              <a:t>xếp</a:t>
            </a:r>
            <a:r>
              <a:rPr lang="en-US" dirty="0"/>
              <a:t> </a:t>
            </a:r>
            <a:r>
              <a:rPr lang="en-US" dirty="0" err="1"/>
              <a:t>độ</a:t>
            </a:r>
            <a:r>
              <a:rPr lang="en-US" dirty="0"/>
              <a:t> </a:t>
            </a:r>
            <a:r>
              <a:rPr lang="en-US" dirty="0" err="1"/>
              <a:t>ưu</a:t>
            </a:r>
            <a:r>
              <a:rPr lang="en-US" dirty="0"/>
              <a:t> </a:t>
            </a:r>
            <a:r>
              <a:rPr lang="en-US" dirty="0" err="1"/>
              <a:t>tiên</a:t>
            </a:r>
            <a:r>
              <a:rPr lang="en-US" dirty="0"/>
              <a:t> </a:t>
            </a:r>
            <a:r>
              <a:rPr lang="en-US" dirty="0" err="1"/>
              <a:t>các</a:t>
            </a:r>
            <a:r>
              <a:rPr lang="en-US" dirty="0"/>
              <a:t> </a:t>
            </a:r>
            <a:r>
              <a:rPr lang="en-US" dirty="0" err="1"/>
              <a:t>yêu</a:t>
            </a:r>
            <a:r>
              <a:rPr lang="en-US" dirty="0"/>
              <a:t> </a:t>
            </a:r>
            <a:r>
              <a:rPr lang="en-US" dirty="0" err="1" smtClean="0"/>
              <a:t>cầu</a:t>
            </a:r>
            <a:r>
              <a:rPr lang="en-US" dirty="0" smtClean="0"/>
              <a:t>.</a:t>
            </a:r>
            <a:endParaRPr lang="en-US" dirty="0"/>
          </a:p>
        </p:txBody>
      </p:sp>
      <p:pic>
        <p:nvPicPr>
          <p:cNvPr id="4" name="Picture 5"/>
          <p:cNvPicPr>
            <a:picLocks noChangeAspect="1" noChangeArrowheads="1"/>
          </p:cNvPicPr>
          <p:nvPr/>
        </p:nvPicPr>
        <p:blipFill>
          <a:blip r:embed="rId2"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24</a:t>
            </a:fld>
            <a:endParaRPr lang="en-US" dirty="0"/>
          </a:p>
        </p:txBody>
      </p:sp>
    </p:spTree>
    <p:extLst>
      <p:ext uri="{BB962C8B-B14F-4D97-AF65-F5344CB8AC3E}">
        <p14:creationId xmlns:p14="http://schemas.microsoft.com/office/powerpoint/2010/main" val="10020070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Tài</a:t>
            </a:r>
            <a:r>
              <a:rPr lang="en-US" dirty="0" smtClean="0"/>
              <a:t> </a:t>
            </a:r>
            <a:r>
              <a:rPr lang="en-US" dirty="0" err="1" smtClean="0"/>
              <a:t>liệu</a:t>
            </a:r>
            <a:r>
              <a:rPr lang="en-US" dirty="0" smtClean="0"/>
              <a:t> </a:t>
            </a:r>
            <a:r>
              <a:rPr lang="en-US" dirty="0" err="1" smtClean="0"/>
              <a:t>tham</a:t>
            </a:r>
            <a:r>
              <a:rPr lang="en-US" dirty="0" smtClean="0"/>
              <a:t> </a:t>
            </a:r>
            <a:r>
              <a:rPr lang="en-US" dirty="0" err="1" smtClean="0"/>
              <a:t>khảo</a:t>
            </a:r>
            <a:endParaRPr lang="en-US" dirty="0"/>
          </a:p>
        </p:txBody>
      </p:sp>
      <p:sp>
        <p:nvSpPr>
          <p:cNvPr id="3" name="Content Placeholder 2"/>
          <p:cNvSpPr>
            <a:spLocks noGrp="1"/>
          </p:cNvSpPr>
          <p:nvPr>
            <p:ph idx="1"/>
          </p:nvPr>
        </p:nvSpPr>
        <p:spPr>
          <a:xfrm>
            <a:off x="457200" y="1371600"/>
            <a:ext cx="8305800" cy="4754563"/>
          </a:xfrm>
        </p:spPr>
        <p:txBody>
          <a:bodyPr/>
          <a:lstStyle/>
          <a:p>
            <a:pPr algn="just"/>
            <a:r>
              <a:rPr lang="en-US" dirty="0">
                <a:hlinkClick r:id="rId2"/>
              </a:rPr>
              <a:t>https://</a:t>
            </a:r>
            <a:r>
              <a:rPr lang="en-US" dirty="0" smtClean="0">
                <a:hlinkClick r:id="rId2"/>
              </a:rPr>
              <a:t>doit.maryland.gov/SDLC/Pages/templates-phases.aspx</a:t>
            </a:r>
            <a:r>
              <a:rPr lang="en-US" dirty="0" smtClean="0"/>
              <a:t> </a:t>
            </a:r>
            <a:endParaRPr lang="en-US" dirty="0" smtClean="0"/>
          </a:p>
          <a:p>
            <a:pPr algn="just"/>
            <a:r>
              <a:rPr lang="en-US" dirty="0">
                <a:hlinkClick r:id="rId3"/>
              </a:rPr>
              <a:t>https://projectresources.cdt.ca.gov/sdlc</a:t>
            </a:r>
            <a:r>
              <a:rPr lang="en-US" dirty="0" smtClean="0">
                <a:hlinkClick r:id="rId3"/>
              </a:rPr>
              <a:t>/</a:t>
            </a:r>
            <a:endParaRPr lang="en-US" dirty="0" smtClean="0"/>
          </a:p>
          <a:p>
            <a:pPr algn="just"/>
            <a:endParaRPr lang="en-US" dirty="0" smtClean="0"/>
          </a:p>
          <a:p>
            <a:pPr algn="just"/>
            <a:endParaRPr lang="en-US" dirty="0"/>
          </a:p>
        </p:txBody>
      </p:sp>
      <p:pic>
        <p:nvPicPr>
          <p:cNvPr id="4" name="Picture 5"/>
          <p:cNvPicPr>
            <a:picLocks noChangeAspect="1" noChangeArrowheads="1"/>
          </p:cNvPicPr>
          <p:nvPr/>
        </p:nvPicPr>
        <p:blipFill>
          <a:blip r:embed="rId4" cstate="print"/>
          <a:srcRect/>
          <a:stretch>
            <a:fillRect/>
          </a:stretch>
        </p:blipFill>
        <p:spPr bwMode="auto">
          <a:xfrm>
            <a:off x="7162800" y="-1"/>
            <a:ext cx="1981199" cy="1371601"/>
          </a:xfrm>
          <a:prstGeom prst="rect">
            <a:avLst/>
          </a:prstGeom>
          <a:noFill/>
          <a:ln w="9525" cap="flat" cmpd="sng">
            <a:noFill/>
            <a:prstDash val="solid"/>
            <a:miter lim="800000"/>
            <a:headEnd/>
            <a:tailEnd/>
          </a:ln>
        </p:spPr>
      </p:pic>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dirty="0"/>
              <a:t>Software development process</a:t>
            </a:r>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25</a:t>
            </a:fld>
            <a:endParaRPr lang="en-US" dirty="0"/>
          </a:p>
        </p:txBody>
      </p:sp>
    </p:spTree>
    <p:extLst>
      <p:ext uri="{BB962C8B-B14F-4D97-AF65-F5344CB8AC3E}">
        <p14:creationId xmlns:p14="http://schemas.microsoft.com/office/powerpoint/2010/main" val="34246712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lvl1pPr algn="l">
              <a:defRPr sz="1200">
                <a:solidFill>
                  <a:srgbClr val="0000FF"/>
                </a:solidFill>
              </a:defRPr>
            </a:lvl1pPr>
          </a:lstStyle>
          <a:p>
            <a:fld id="{C9A62315-523A-4E76-A53F-63211F5AB666}" type="datetimeFigureOut">
              <a:rPr lang="en-US" smtClean="0"/>
              <a:pPr/>
              <a:t>9/12/2024</a:t>
            </a:fld>
            <a:endParaRPr lang="en-US" dirty="0"/>
          </a:p>
        </p:txBody>
      </p:sp>
      <p:sp>
        <p:nvSpPr>
          <p:cNvPr id="6" name="Footer Placeholder 4"/>
          <p:cNvSpPr>
            <a:spLocks noGrp="1"/>
          </p:cNvSpPr>
          <p:nvPr>
            <p:ph type="ftr" sz="quarter" idx="4294967295"/>
          </p:nvPr>
        </p:nvSpPr>
        <p:spPr>
          <a:xfrm>
            <a:off x="3124200" y="6356350"/>
            <a:ext cx="2895600" cy="365125"/>
          </a:xfrm>
          <a:prstGeom prst="rect">
            <a:avLst/>
          </a:prstGeom>
        </p:spPr>
        <p:txBody>
          <a:bodyPr vert="horz" lIns="91440" tIns="45720" rIns="91440" bIns="45720" rtlCol="0" anchor="ctr"/>
          <a:lstStyle>
            <a:lvl1pPr algn="ctr">
              <a:defRPr sz="1200">
                <a:solidFill>
                  <a:srgbClr val="0000FF"/>
                </a:solidFill>
              </a:defRPr>
            </a:lvl1pPr>
          </a:lstStyle>
          <a:p>
            <a:r>
              <a:rPr lang="en-US" smtClean="0"/>
              <a:t>Software testing</a:t>
            </a:r>
            <a:endParaRPr lang="en-US" dirty="0"/>
          </a:p>
        </p:txBody>
      </p:sp>
      <p:sp>
        <p:nvSpPr>
          <p:cNvPr id="7" name="Slide Number Placeholder 5"/>
          <p:cNvSpPr>
            <a:spLocks noGrp="1"/>
          </p:cNvSpPr>
          <p:nvPr>
            <p:ph type="sldNum" sz="quarter" idx="4294967295"/>
          </p:nvPr>
        </p:nvSpPr>
        <p:spPr>
          <a:xfrm>
            <a:off x="6553200" y="6356350"/>
            <a:ext cx="2133600" cy="365125"/>
          </a:xfrm>
          <a:prstGeom prst="rect">
            <a:avLst/>
          </a:prstGeom>
        </p:spPr>
        <p:txBody>
          <a:bodyPr vert="horz" lIns="91440" tIns="45720" rIns="91440" bIns="45720" rtlCol="0" anchor="ctr"/>
          <a:lstStyle>
            <a:lvl1pPr algn="r">
              <a:defRPr sz="1200">
                <a:solidFill>
                  <a:srgbClr val="0000FF"/>
                </a:solidFill>
              </a:defRPr>
            </a:lvl1pPr>
          </a:lstStyle>
          <a:p>
            <a:fld id="{8015A9A5-FDED-4E35-A21F-AB2CE43FC06E}" type="slidenum">
              <a:rPr lang="en-US" smtClean="0"/>
              <a:pPr/>
              <a:t>26</a:t>
            </a:fld>
            <a:endParaRPr lang="en-US" dirty="0"/>
          </a:p>
        </p:txBody>
      </p:sp>
      <p:pic>
        <p:nvPicPr>
          <p:cNvPr id="9" name="Picture 2"/>
          <p:cNvPicPr>
            <a:picLocks noChangeAspect="1" noChangeArrowheads="1"/>
          </p:cNvPicPr>
          <p:nvPr/>
        </p:nvPicPr>
        <p:blipFill>
          <a:blip r:embed="rId2" cstate="print"/>
          <a:srcRect/>
          <a:stretch>
            <a:fillRect/>
          </a:stretch>
        </p:blipFill>
        <p:spPr bwMode="auto">
          <a:xfrm>
            <a:off x="762000" y="1371600"/>
            <a:ext cx="8153400" cy="495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2416</TotalTime>
  <Words>1824</Words>
  <Application>Microsoft Office PowerPoint</Application>
  <PresentationFormat>On-screen Show (4:3)</PresentationFormat>
  <Paragraphs>218</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 (Body)</vt:lpstr>
      <vt:lpstr>Calibri</vt:lpstr>
      <vt:lpstr>Tahoma (Headings)</vt:lpstr>
      <vt:lpstr>Wingdings</vt:lpstr>
      <vt:lpstr>Office Theme</vt:lpstr>
      <vt:lpstr>SOFTWARE DEVELOPMENT PROCESS Quy trình triển khai dự án phần mềm</vt:lpstr>
      <vt:lpstr>Nội dung</vt:lpstr>
      <vt:lpstr>KHÁI NIỆM CHUNG</vt:lpstr>
      <vt:lpstr>Một chút phân biệt</vt:lpstr>
      <vt:lpstr>SDLC</vt:lpstr>
      <vt:lpstr>SDLC</vt:lpstr>
      <vt:lpstr>Một chút phân biệt</vt:lpstr>
      <vt:lpstr>PDLC</vt:lpstr>
      <vt:lpstr>PDLC</vt:lpstr>
      <vt:lpstr>Một chút phân biệt</vt:lpstr>
      <vt:lpstr>SDLC – Một chút lịch sử</vt:lpstr>
      <vt:lpstr>Ưu điểm của SDLC</vt:lpstr>
      <vt:lpstr>Ưu điểm của SDLC</vt:lpstr>
      <vt:lpstr>GỢI Ý</vt:lpstr>
      <vt:lpstr>Chuẩn bị cho triển khai dự án</vt:lpstr>
      <vt:lpstr>Chuẩn bị cho triển khai dự án</vt:lpstr>
      <vt:lpstr>Chuẩn bị cho triển khai dự án</vt:lpstr>
      <vt:lpstr>Chuẩn bị cho triển khai dự án</vt:lpstr>
      <vt:lpstr>Triển khai dự án</vt:lpstr>
      <vt:lpstr>Triển khai dự án</vt:lpstr>
      <vt:lpstr>Triển khai dự án</vt:lpstr>
      <vt:lpstr>Triển khai dự án</vt:lpstr>
      <vt:lpstr>Triển khai dự án</vt:lpstr>
      <vt:lpstr>Triển khai dự án</vt:lpstr>
      <vt:lpstr>Tài liệu tham khảo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NTTHuong</dc:creator>
  <cp:lastModifiedBy>Phuc, Nguyen Trong</cp:lastModifiedBy>
  <cp:revision>100</cp:revision>
  <dcterms:created xsi:type="dcterms:W3CDTF">2016-08-09T13:45:39Z</dcterms:created>
  <dcterms:modified xsi:type="dcterms:W3CDTF">2024-09-12T16:47:27Z</dcterms:modified>
</cp:coreProperties>
</file>